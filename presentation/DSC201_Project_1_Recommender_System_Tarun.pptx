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461" autoAdjust="0"/>
  </p:normalViewPr>
  <p:slideViewPr>
    <p:cSldViewPr snapToGrid="0" snapToObjects="1">
      <p:cViewPr varScale="1">
        <p:scale>
          <a:sx n="71" d="100"/>
          <a:sy n="71" d="100"/>
        </p:scale>
        <p:origin x="1109"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411E9C-8571-4A99-A4AF-172AA27C4C4F}" type="datetimeFigureOut">
              <a:rPr lang="en-US" smtClean="0"/>
              <a:t>10/13/2026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1BB318-8D2C-4319-B015-21322CDEA0A1}" type="slidenum">
              <a:rPr lang="en-US" smtClean="0"/>
              <a:t>‹#›</a:t>
            </a:fld>
            <a:endParaRPr lang="en-US"/>
          </a:p>
        </p:txBody>
      </p:sp>
    </p:spTree>
    <p:extLst>
      <p:ext uri="{BB962C8B-B14F-4D97-AF65-F5344CB8AC3E}">
        <p14:creationId xmlns:p14="http://schemas.microsoft.com/office/powerpoint/2010/main" val="42230683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this project, I built a car recommender system using the Structured Edmunds Car Reviews dataset. The goal was to turn consumer reviews and ratings into useful vehicle recommendations. I developed three approaches: a content-based model, a collaborative SVD model, and a hybrid model that combines both.</a:t>
            </a:r>
          </a:p>
        </p:txBody>
      </p:sp>
      <p:sp>
        <p:nvSpPr>
          <p:cNvPr id="4" name="Slide Number Placeholder 3"/>
          <p:cNvSpPr>
            <a:spLocks noGrp="1"/>
          </p:cNvSpPr>
          <p:nvPr>
            <p:ph type="sldNum" sz="quarter" idx="5"/>
          </p:nvPr>
        </p:nvSpPr>
        <p:spPr/>
        <p:txBody>
          <a:bodyPr/>
          <a:lstStyle/>
          <a:p>
            <a:fld id="{621BB318-8D2C-4319-B015-21322CDEA0A1}" type="slidenum">
              <a:rPr lang="en-US" smtClean="0"/>
              <a:t>1</a:t>
            </a:fld>
            <a:endParaRPr lang="en-US"/>
          </a:p>
        </p:txBody>
      </p:sp>
    </p:spTree>
    <p:extLst>
      <p:ext uri="{BB962C8B-B14F-4D97-AF65-F5344CB8AC3E}">
        <p14:creationId xmlns:p14="http://schemas.microsoft.com/office/powerpoint/2010/main" val="6379117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question is: which vehicle should a user explore next? The content-based model identifies vehicles described similarly in reviews. Collaborative filtering learns from users’ rating behavior, while the hybrid model combines relevance and personal preference into one ranked result.</a:t>
            </a:r>
          </a:p>
        </p:txBody>
      </p:sp>
      <p:sp>
        <p:nvSpPr>
          <p:cNvPr id="4" name="Slide Number Placeholder 3"/>
          <p:cNvSpPr>
            <a:spLocks noGrp="1"/>
          </p:cNvSpPr>
          <p:nvPr>
            <p:ph type="sldNum" sz="quarter" idx="5"/>
          </p:nvPr>
        </p:nvSpPr>
        <p:spPr/>
        <p:txBody>
          <a:bodyPr/>
          <a:lstStyle/>
          <a:p>
            <a:fld id="{621BB318-8D2C-4319-B015-21322CDEA0A1}" type="slidenum">
              <a:rPr lang="en-US" smtClean="0"/>
              <a:t>2</a:t>
            </a:fld>
            <a:endParaRPr lang="en-US"/>
          </a:p>
        </p:txBody>
      </p:sp>
    </p:spTree>
    <p:extLst>
      <p:ext uri="{BB962C8B-B14F-4D97-AF65-F5344CB8AC3E}">
        <p14:creationId xmlns:p14="http://schemas.microsoft.com/office/powerpoint/2010/main" val="32718440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dataset contains 226,931 reviews covering 50 manufacturers and more than 29,000 vehicle titles. Ratings range from one to five. Review text supplies the descriptive information needed for content filtering, while authors, vehicle titles, and ratings create the user-item interactions needed for collaborative filtering.</a:t>
            </a:r>
          </a:p>
        </p:txBody>
      </p:sp>
      <p:sp>
        <p:nvSpPr>
          <p:cNvPr id="4" name="Slide Number Placeholder 3"/>
          <p:cNvSpPr>
            <a:spLocks noGrp="1"/>
          </p:cNvSpPr>
          <p:nvPr>
            <p:ph type="sldNum" sz="quarter" idx="5"/>
          </p:nvPr>
        </p:nvSpPr>
        <p:spPr/>
        <p:txBody>
          <a:bodyPr/>
          <a:lstStyle/>
          <a:p>
            <a:fld id="{621BB318-8D2C-4319-B015-21322CDEA0A1}" type="slidenum">
              <a:rPr lang="en-US" smtClean="0"/>
              <a:t>3</a:t>
            </a:fld>
            <a:endParaRPr lang="en-US"/>
          </a:p>
        </p:txBody>
      </p:sp>
    </p:spTree>
    <p:extLst>
      <p:ext uri="{BB962C8B-B14F-4D97-AF65-F5344CB8AC3E}">
        <p14:creationId xmlns:p14="http://schemas.microsoft.com/office/powerpoint/2010/main" val="18832154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cleaning was especially important because this information came from scraped reviews. I combined the manufacturer files, validated rating values, normalized text and vehicle information, removed duplicate reviews, and replaced author names with anonymous user IDs. The final cleaned dataset contains 224,444 reviews, 155,074 users, and 29,039 vehicles.</a:t>
            </a:r>
          </a:p>
        </p:txBody>
      </p:sp>
      <p:sp>
        <p:nvSpPr>
          <p:cNvPr id="4" name="Slide Number Placeholder 3"/>
          <p:cNvSpPr>
            <a:spLocks noGrp="1"/>
          </p:cNvSpPr>
          <p:nvPr>
            <p:ph type="sldNum" sz="quarter" idx="5"/>
          </p:nvPr>
        </p:nvSpPr>
        <p:spPr/>
        <p:txBody>
          <a:bodyPr/>
          <a:lstStyle/>
          <a:p>
            <a:fld id="{621BB318-8D2C-4319-B015-21322CDEA0A1}" type="slidenum">
              <a:rPr lang="en-US" smtClean="0"/>
              <a:t>4</a:t>
            </a:fld>
            <a:endParaRPr lang="en-US"/>
          </a:p>
        </p:txBody>
      </p:sp>
    </p:spTree>
    <p:extLst>
      <p:ext uri="{BB962C8B-B14F-4D97-AF65-F5344CB8AC3E}">
        <p14:creationId xmlns:p14="http://schemas.microsoft.com/office/powerpoint/2010/main" val="15028515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models use the same cleaned dataset. The content model converts review language into TF-IDF features. The collaborative model applies sparse SVD to the user-vehicle rating matrix. The hybrid model retrieves similar vehicles using content and then </a:t>
            </a:r>
            <a:r>
              <a:rPr lang="en-US" dirty="0" err="1"/>
              <a:t>reranks</a:t>
            </a:r>
            <a:r>
              <a:rPr lang="en-US" dirty="0"/>
              <a:t> them using the user’s predicted preference.</a:t>
            </a:r>
          </a:p>
        </p:txBody>
      </p:sp>
      <p:sp>
        <p:nvSpPr>
          <p:cNvPr id="4" name="Slide Number Placeholder 3"/>
          <p:cNvSpPr>
            <a:spLocks noGrp="1"/>
          </p:cNvSpPr>
          <p:nvPr>
            <p:ph type="sldNum" sz="quarter" idx="5"/>
          </p:nvPr>
        </p:nvSpPr>
        <p:spPr/>
        <p:txBody>
          <a:bodyPr/>
          <a:lstStyle/>
          <a:p>
            <a:fld id="{621BB318-8D2C-4319-B015-21322CDEA0A1}" type="slidenum">
              <a:rPr lang="en-US" smtClean="0"/>
              <a:t>5</a:t>
            </a:fld>
            <a:endParaRPr lang="en-US"/>
          </a:p>
        </p:txBody>
      </p:sp>
    </p:spTree>
    <p:extLst>
      <p:ext uri="{BB962C8B-B14F-4D97-AF65-F5344CB8AC3E}">
        <p14:creationId xmlns:p14="http://schemas.microsoft.com/office/powerpoint/2010/main" val="41125093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content model aggregates the reviews for each vehicle and represents the text using TF-IDF unigrams and bigrams. Cosine similarity is then used to find vehicles with similar review language. For the 2002 Acura RSX Type-S example, the model recommends other Acura RSX and Integra models, which indicates that it identifies a meaningful product family.</a:t>
            </a:r>
          </a:p>
          <a:p>
            <a:endParaRPr lang="en-US" dirty="0"/>
          </a:p>
          <a:p>
            <a:r>
              <a:rPr lang="en-US" dirty="0"/>
              <a:t>The same-manufacturer precision at 10 was 70.3%, and 65.2% of recommendations were within three model years. This model is explainable and can recommend vehicles even when little user-rating information is available.</a:t>
            </a:r>
          </a:p>
          <a:p>
            <a:endParaRPr lang="en-US" dirty="0"/>
          </a:p>
        </p:txBody>
      </p:sp>
      <p:sp>
        <p:nvSpPr>
          <p:cNvPr id="4" name="Slide Number Placeholder 3"/>
          <p:cNvSpPr>
            <a:spLocks noGrp="1"/>
          </p:cNvSpPr>
          <p:nvPr>
            <p:ph type="sldNum" sz="quarter" idx="5"/>
          </p:nvPr>
        </p:nvSpPr>
        <p:spPr/>
        <p:txBody>
          <a:bodyPr/>
          <a:lstStyle/>
          <a:p>
            <a:fld id="{621BB318-8D2C-4319-B015-21322CDEA0A1}" type="slidenum">
              <a:rPr lang="en-US" smtClean="0"/>
              <a:t>6</a:t>
            </a:fld>
            <a:endParaRPr lang="en-US"/>
          </a:p>
        </p:txBody>
      </p:sp>
    </p:spTree>
    <p:extLst>
      <p:ext uri="{BB962C8B-B14F-4D97-AF65-F5344CB8AC3E}">
        <p14:creationId xmlns:p14="http://schemas.microsoft.com/office/powerpoint/2010/main" val="5471661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collaborative filtering, I created a k-core subset so that the matrix contained users and vehicles with enough rating activity. The final matrix had 26,662 interactions, 2,378 users, and 3,384 vehicles, but its density was only about 0.302%, so it remained extremely sparse.</a:t>
            </a:r>
          </a:p>
          <a:p>
            <a:endParaRPr lang="en-US" dirty="0"/>
          </a:p>
          <a:p>
            <a:r>
              <a:rPr lang="en-US" dirty="0"/>
              <a:t>The centered SVD model used 50 latent features. Its RMSE was approximately 0.965, while the global-mean baseline achieved 0.893. Therefore, SVD did not improve rating-prediction error in this dataset. This is an important result rather than something to hide: most users submitted only one review, and ratings were heavily concentrated near four and five stars. I retained SVD because it still provides a personalized ranking signal for the hybrid model.</a:t>
            </a:r>
          </a:p>
          <a:p>
            <a:endParaRPr lang="en-US" dirty="0"/>
          </a:p>
        </p:txBody>
      </p:sp>
      <p:sp>
        <p:nvSpPr>
          <p:cNvPr id="4" name="Slide Number Placeholder 3"/>
          <p:cNvSpPr>
            <a:spLocks noGrp="1"/>
          </p:cNvSpPr>
          <p:nvPr>
            <p:ph type="sldNum" sz="quarter" idx="5"/>
          </p:nvPr>
        </p:nvSpPr>
        <p:spPr/>
        <p:txBody>
          <a:bodyPr/>
          <a:lstStyle/>
          <a:p>
            <a:fld id="{621BB318-8D2C-4319-B015-21322CDEA0A1}" type="slidenum">
              <a:rPr lang="en-US" smtClean="0"/>
              <a:t>7</a:t>
            </a:fld>
            <a:endParaRPr lang="en-US"/>
          </a:p>
        </p:txBody>
      </p:sp>
    </p:spTree>
    <p:extLst>
      <p:ext uri="{BB962C8B-B14F-4D97-AF65-F5344CB8AC3E}">
        <p14:creationId xmlns:p14="http://schemas.microsoft.com/office/powerpoint/2010/main" val="39653104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hybrid score gives 55% weight to content similarity and 45% to collaborative preference. Content filtering first creates a pool of relevant vehicles. The SVD prediction then changes the order of those candidates according to the user’s estimated preferences.</a:t>
            </a:r>
          </a:p>
          <a:p>
            <a:endParaRPr lang="en-US" dirty="0"/>
          </a:p>
          <a:p>
            <a:r>
              <a:rPr lang="en-US" dirty="0"/>
              <a:t>The output includes vehicle titles, model years, predicted ratings, and final hybrid scores. Previously rated vehicles are excluded. The parameter k controls how many SVD latent features contribute to the personalized score.</a:t>
            </a:r>
          </a:p>
          <a:p>
            <a:endParaRPr lang="en-US" dirty="0"/>
          </a:p>
        </p:txBody>
      </p:sp>
      <p:sp>
        <p:nvSpPr>
          <p:cNvPr id="4" name="Slide Number Placeholder 3"/>
          <p:cNvSpPr>
            <a:spLocks noGrp="1"/>
          </p:cNvSpPr>
          <p:nvPr>
            <p:ph type="sldNum" sz="quarter" idx="5"/>
          </p:nvPr>
        </p:nvSpPr>
        <p:spPr/>
        <p:txBody>
          <a:bodyPr/>
          <a:lstStyle/>
          <a:p>
            <a:fld id="{621BB318-8D2C-4319-B015-21322CDEA0A1}" type="slidenum">
              <a:rPr lang="en-US" smtClean="0"/>
              <a:t>8</a:t>
            </a:fld>
            <a:endParaRPr lang="en-US"/>
          </a:p>
        </p:txBody>
      </p:sp>
    </p:spTree>
    <p:extLst>
      <p:ext uri="{BB962C8B-B14F-4D97-AF65-F5344CB8AC3E}">
        <p14:creationId xmlns:p14="http://schemas.microsoft.com/office/powerpoint/2010/main" val="36105706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collaborative calculation is very fast, at about half a millisecond. Content retrieval takes approximately 91 milliseconds, and the complete hybrid query takes about 96 milliseconds. These times make the system practical for an interactive recommendation application.</a:t>
            </a:r>
          </a:p>
          <a:p>
            <a:endParaRPr lang="en-US" dirty="0"/>
          </a:p>
          <a:p>
            <a:r>
              <a:rPr lang="en-US" dirty="0"/>
              <a:t>The content catalog supports 18,287 vehicles, while collaborative filtering supports only 3,384 because it requires sufficient rating history. The models therefore have different strengths: content filtering provides coverage and explainability, SVD provides personalization, and the hybrid approach offers the best practical balance.</a:t>
            </a:r>
          </a:p>
          <a:p>
            <a:endParaRPr lang="en-US" dirty="0"/>
          </a:p>
        </p:txBody>
      </p:sp>
      <p:sp>
        <p:nvSpPr>
          <p:cNvPr id="4" name="Slide Number Placeholder 3"/>
          <p:cNvSpPr>
            <a:spLocks noGrp="1"/>
          </p:cNvSpPr>
          <p:nvPr>
            <p:ph type="sldNum" sz="quarter" idx="5"/>
          </p:nvPr>
        </p:nvSpPr>
        <p:spPr/>
        <p:txBody>
          <a:bodyPr/>
          <a:lstStyle/>
          <a:p>
            <a:fld id="{621BB318-8D2C-4319-B015-21322CDEA0A1}" type="slidenum">
              <a:rPr lang="en-US" smtClean="0"/>
              <a:t>9</a:t>
            </a:fld>
            <a:endParaRPr lang="en-US"/>
          </a:p>
        </p:txBody>
      </p:sp>
    </p:spTree>
    <p:extLst>
      <p:ext uri="{BB962C8B-B14F-4D97-AF65-F5344CB8AC3E}">
        <p14:creationId xmlns:p14="http://schemas.microsoft.com/office/powerpoint/2010/main" val="39646555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has several limitations. The median user has only one review, author names are imperfect user identifiers, and ratings are highly concentrated near the positive end of the scale. K-core filtering makes SVD more reliable but removes uncommon vehicles.</a:t>
            </a:r>
          </a:p>
          <a:p>
            <a:endParaRPr lang="en-US" dirty="0"/>
          </a:p>
          <a:p>
            <a:r>
              <a:rPr lang="en-US" dirty="0"/>
              <a:t>Future improvements could include collecting onboarding preferences, tuning the hybrid weights through validation or user studies, and measuring ranking metrics such as precision, recall, diversity, and novelty. A production system should also monitor whether certain manufacturers receive too much exposure.</a:t>
            </a:r>
          </a:p>
          <a:p>
            <a:endParaRPr lang="en-US" dirty="0"/>
          </a:p>
        </p:txBody>
      </p:sp>
      <p:sp>
        <p:nvSpPr>
          <p:cNvPr id="4" name="Slide Number Placeholder 3"/>
          <p:cNvSpPr>
            <a:spLocks noGrp="1"/>
          </p:cNvSpPr>
          <p:nvPr>
            <p:ph type="sldNum" sz="quarter" idx="5"/>
          </p:nvPr>
        </p:nvSpPr>
        <p:spPr/>
        <p:txBody>
          <a:bodyPr/>
          <a:lstStyle/>
          <a:p>
            <a:fld id="{621BB318-8D2C-4319-B015-21322CDEA0A1}" type="slidenum">
              <a:rPr lang="en-US" smtClean="0"/>
              <a:t>10</a:t>
            </a:fld>
            <a:endParaRPr lang="en-US"/>
          </a:p>
        </p:txBody>
      </p:sp>
    </p:spTree>
    <p:extLst>
      <p:ext uri="{BB962C8B-B14F-4D97-AF65-F5344CB8AC3E}">
        <p14:creationId xmlns:p14="http://schemas.microsoft.com/office/powerpoint/2010/main" val="35575176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main conclusion is that the hybrid model is the strongest practical solution for this dataset. Content filtering supplies coherent and explainable candidates, while SVD adds a personalized signal when sufficient user history is available.</a:t>
            </a:r>
          </a:p>
          <a:p>
            <a:endParaRPr lang="en-US" dirty="0"/>
          </a:p>
          <a:p>
            <a:r>
              <a:rPr lang="en-US" dirty="0"/>
              <a:t>The content model achieved 70.3% same-manufacturer precision at 10, covered 18,287 vehicles, and the hybrid query completed in approximately 96 milliseconds. All three required recommender functions were completed and tested. </a:t>
            </a:r>
            <a:r>
              <a:rPr lang="en-US"/>
              <a:t>Thank you.</a:t>
            </a:r>
            <a:endParaRPr lang="en-US" dirty="0"/>
          </a:p>
        </p:txBody>
      </p:sp>
      <p:sp>
        <p:nvSpPr>
          <p:cNvPr id="4" name="Slide Number Placeholder 3"/>
          <p:cNvSpPr>
            <a:spLocks noGrp="1"/>
          </p:cNvSpPr>
          <p:nvPr>
            <p:ph type="sldNum" sz="quarter" idx="5"/>
          </p:nvPr>
        </p:nvSpPr>
        <p:spPr/>
        <p:txBody>
          <a:bodyPr/>
          <a:lstStyle/>
          <a:p>
            <a:fld id="{621BB318-8D2C-4319-B015-21322CDEA0A1}" type="slidenum">
              <a:rPr lang="en-US" smtClean="0"/>
              <a:t>11</a:t>
            </a:fld>
            <a:endParaRPr lang="en-US"/>
          </a:p>
        </p:txBody>
      </p:sp>
    </p:spTree>
    <p:extLst>
      <p:ext uri="{BB962C8B-B14F-4D97-AF65-F5344CB8AC3E}">
        <p14:creationId xmlns:p14="http://schemas.microsoft.com/office/powerpoint/2010/main" val="17800586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F33"/>
          </a:solidFill>
          <a:ln w="12700">
            <a:solidFill>
              <a:srgbClr val="0B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66928" y="658368"/>
            <a:ext cx="100584" cy="5440680"/>
          </a:xfrm>
          <a:prstGeom prst="rect">
            <a:avLst/>
          </a:prstGeom>
          <a:solidFill>
            <a:srgbClr val="16B3A3"/>
          </a:solidFill>
          <a:ln w="12700">
            <a:solidFill>
              <a:srgbClr val="16B3A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60120" y="694944"/>
            <a:ext cx="4114800" cy="320040"/>
          </a:xfrm>
          <a:prstGeom prst="rect">
            <a:avLst/>
          </a:prstGeom>
          <a:noFill/>
        </p:spPr>
        <p:txBody>
          <a:bodyPr wrap="square" lIns="27432" tIns="27432" rIns="27432" bIns="27432" anchor="t">
            <a:spAutoFit/>
          </a:bodyPr>
          <a:lstStyle/>
          <a:p>
            <a:pPr algn="l"/>
            <a:r>
              <a:rPr sz="1100" b="1">
                <a:solidFill>
                  <a:srgbClr val="16B3A3"/>
                </a:solidFill>
                <a:latin typeface="Aptos"/>
              </a:rPr>
              <a:t>PROJECT 1 • DSC 201</a:t>
            </a:r>
          </a:p>
        </p:txBody>
      </p:sp>
      <p:sp>
        <p:nvSpPr>
          <p:cNvPr id="5" name="TextBox 4"/>
          <p:cNvSpPr txBox="1"/>
          <p:nvPr/>
        </p:nvSpPr>
        <p:spPr>
          <a:xfrm>
            <a:off x="932688" y="1234440"/>
            <a:ext cx="7772400" cy="1508760"/>
          </a:xfrm>
          <a:prstGeom prst="rect">
            <a:avLst/>
          </a:prstGeom>
          <a:noFill/>
        </p:spPr>
        <p:txBody>
          <a:bodyPr wrap="square" lIns="27432" tIns="27432" rIns="27432" bIns="27432" anchor="t">
            <a:spAutoFit/>
          </a:bodyPr>
          <a:lstStyle/>
          <a:p>
            <a:pPr algn="l"/>
            <a:r>
              <a:rPr sz="3400" b="1">
                <a:solidFill>
                  <a:srgbClr val="FFFFFF"/>
                </a:solidFill>
                <a:latin typeface="Aptos Display"/>
              </a:rPr>
              <a:t>Edmunds Car
Recommender System</a:t>
            </a:r>
          </a:p>
        </p:txBody>
      </p:sp>
      <p:sp>
        <p:nvSpPr>
          <p:cNvPr id="6" name="TextBox 5"/>
          <p:cNvSpPr txBox="1"/>
          <p:nvPr/>
        </p:nvSpPr>
        <p:spPr>
          <a:xfrm>
            <a:off x="960120" y="2944368"/>
            <a:ext cx="7589520" cy="594360"/>
          </a:xfrm>
          <a:prstGeom prst="rect">
            <a:avLst/>
          </a:prstGeom>
          <a:noFill/>
        </p:spPr>
        <p:txBody>
          <a:bodyPr wrap="square" lIns="27432" tIns="27432" rIns="27432" bIns="27432" anchor="t">
            <a:spAutoFit/>
          </a:bodyPr>
          <a:lstStyle/>
          <a:p>
            <a:pPr algn="l"/>
            <a:r>
              <a:rPr sz="1700" b="0">
                <a:solidFill>
                  <a:srgbClr val="CEDCE8"/>
                </a:solidFill>
                <a:latin typeface="Aptos"/>
              </a:rPr>
              <a:t>Turning 226,931 consumer reviews into relevant, personalized vehicle recommendations</a:t>
            </a:r>
          </a:p>
        </p:txBody>
      </p:sp>
      <p:sp>
        <p:nvSpPr>
          <p:cNvPr id="7" name="Rounded Rectangle 6"/>
          <p:cNvSpPr/>
          <p:nvPr/>
        </p:nvSpPr>
        <p:spPr>
          <a:xfrm>
            <a:off x="960120" y="3977639"/>
            <a:ext cx="2057400" cy="384048"/>
          </a:xfrm>
          <a:prstGeom prst="roundRect">
            <a:avLst>
              <a:gd name="adj" fmla="val 25000"/>
            </a:avLst>
          </a:prstGeom>
          <a:solidFill>
            <a:srgbClr val="16B3A3"/>
          </a:solidFill>
          <a:ln w="12700">
            <a:solidFill>
              <a:srgbClr val="16B3A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3986783"/>
            <a:ext cx="2057400" cy="347472"/>
          </a:xfrm>
          <a:prstGeom prst="rect">
            <a:avLst/>
          </a:prstGeom>
          <a:noFill/>
        </p:spPr>
        <p:txBody>
          <a:bodyPr wrap="square" lIns="27432" tIns="27432" rIns="27432" bIns="27432" anchor="ctr">
            <a:spAutoFit/>
          </a:bodyPr>
          <a:lstStyle/>
          <a:p>
            <a:pPr algn="ctr"/>
            <a:r>
              <a:rPr sz="1050" b="1">
                <a:solidFill>
                  <a:srgbClr val="FFFFFF"/>
                </a:solidFill>
                <a:latin typeface="Aptos"/>
              </a:rPr>
              <a:t>CONTENT-BASED</a:t>
            </a:r>
          </a:p>
        </p:txBody>
      </p:sp>
      <p:sp>
        <p:nvSpPr>
          <p:cNvPr id="9" name="Rounded Rectangle 8"/>
          <p:cNvSpPr/>
          <p:nvPr/>
        </p:nvSpPr>
        <p:spPr>
          <a:xfrm>
            <a:off x="3246120" y="3977639"/>
            <a:ext cx="2423160" cy="384048"/>
          </a:xfrm>
          <a:prstGeom prst="roundRect">
            <a:avLst>
              <a:gd name="adj" fmla="val 25000"/>
            </a:avLst>
          </a:prstGeom>
          <a:solidFill>
            <a:srgbClr val="2F6FAE"/>
          </a:solidFill>
          <a:ln w="12700">
            <a:solidFill>
              <a:srgbClr val="2F6FA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246120" y="3986783"/>
            <a:ext cx="2423160" cy="347472"/>
          </a:xfrm>
          <a:prstGeom prst="rect">
            <a:avLst/>
          </a:prstGeom>
          <a:noFill/>
        </p:spPr>
        <p:txBody>
          <a:bodyPr wrap="square" lIns="27432" tIns="27432" rIns="27432" bIns="27432" anchor="ctr">
            <a:spAutoFit/>
          </a:bodyPr>
          <a:lstStyle/>
          <a:p>
            <a:pPr algn="ctr"/>
            <a:r>
              <a:rPr sz="1050" b="1">
                <a:solidFill>
                  <a:srgbClr val="FFFFFF"/>
                </a:solidFill>
                <a:latin typeface="Aptos"/>
              </a:rPr>
              <a:t>COLLABORATIVE SVD</a:t>
            </a:r>
          </a:p>
        </p:txBody>
      </p:sp>
      <p:sp>
        <p:nvSpPr>
          <p:cNvPr id="11" name="Rounded Rectangle 10"/>
          <p:cNvSpPr/>
          <p:nvPr/>
        </p:nvSpPr>
        <p:spPr>
          <a:xfrm>
            <a:off x="5897880" y="3977639"/>
            <a:ext cx="1508760" cy="384048"/>
          </a:xfrm>
          <a:prstGeom prst="roundRect">
            <a:avLst>
              <a:gd name="adj" fmla="val 25000"/>
            </a:avLst>
          </a:prstGeom>
          <a:solidFill>
            <a:srgbClr val="F59E0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897880" y="3986783"/>
            <a:ext cx="1508760" cy="347472"/>
          </a:xfrm>
          <a:prstGeom prst="rect">
            <a:avLst/>
          </a:prstGeom>
          <a:noFill/>
        </p:spPr>
        <p:txBody>
          <a:bodyPr wrap="square" lIns="27432" tIns="27432" rIns="27432" bIns="27432" anchor="ctr">
            <a:spAutoFit/>
          </a:bodyPr>
          <a:lstStyle/>
          <a:p>
            <a:pPr algn="ctr"/>
            <a:r>
              <a:rPr sz="1050" b="1">
                <a:solidFill>
                  <a:srgbClr val="0B1F33"/>
                </a:solidFill>
                <a:latin typeface="Aptos"/>
              </a:rPr>
              <a:t>HYBRID</a:t>
            </a:r>
          </a:p>
        </p:txBody>
      </p:sp>
      <p:sp>
        <p:nvSpPr>
          <p:cNvPr id="13" name="TextBox 12"/>
          <p:cNvSpPr txBox="1"/>
          <p:nvPr/>
        </p:nvSpPr>
        <p:spPr>
          <a:xfrm>
            <a:off x="960120" y="5074920"/>
            <a:ext cx="3840480" cy="320040"/>
          </a:xfrm>
          <a:prstGeom prst="rect">
            <a:avLst/>
          </a:prstGeom>
          <a:noFill/>
        </p:spPr>
        <p:txBody>
          <a:bodyPr wrap="square" lIns="27432" tIns="27432" rIns="27432" bIns="27432" anchor="t">
            <a:spAutoFit/>
          </a:bodyPr>
          <a:lstStyle/>
          <a:p>
            <a:pPr algn="l"/>
            <a:r>
              <a:rPr sz="1400" b="1">
                <a:solidFill>
                  <a:srgbClr val="FFFFFF"/>
                </a:solidFill>
                <a:latin typeface="Aptos"/>
              </a:rPr>
              <a:t>Tarun Vigneswaran</a:t>
            </a:r>
          </a:p>
        </p:txBody>
      </p:sp>
      <p:sp>
        <p:nvSpPr>
          <p:cNvPr id="14" name="TextBox 13"/>
          <p:cNvSpPr txBox="1"/>
          <p:nvPr/>
        </p:nvSpPr>
        <p:spPr>
          <a:xfrm>
            <a:off x="960120" y="5440680"/>
            <a:ext cx="5212080" cy="274320"/>
          </a:xfrm>
          <a:prstGeom prst="rect">
            <a:avLst/>
          </a:prstGeom>
          <a:noFill/>
        </p:spPr>
        <p:txBody>
          <a:bodyPr wrap="square" lIns="27432" tIns="27432" rIns="27432" bIns="27432" anchor="t">
            <a:spAutoFit/>
          </a:bodyPr>
          <a:lstStyle/>
          <a:p>
            <a:pPr algn="l"/>
            <a:r>
              <a:rPr sz="1050" b="0">
                <a:solidFill>
                  <a:srgbClr val="A5BBCC"/>
                </a:solidFill>
                <a:latin typeface="Aptos"/>
              </a:rPr>
              <a:t>Structured Edmunds Car Reviews Dataset</a:t>
            </a:r>
          </a:p>
        </p:txBody>
      </p:sp>
      <p:sp>
        <p:nvSpPr>
          <p:cNvPr id="15" name="Oval 14"/>
          <p:cNvSpPr/>
          <p:nvPr/>
        </p:nvSpPr>
        <p:spPr>
          <a:xfrm>
            <a:off x="9262872" y="1078992"/>
            <a:ext cx="676656" cy="676656"/>
          </a:xfrm>
          <a:prstGeom prst="ellipse">
            <a:avLst/>
          </a:prstGeom>
          <a:solidFill>
            <a:srgbClr val="16B3A3"/>
          </a:solidFill>
          <a:ln>
            <a:solidFill>
              <a:srgbClr val="16B3A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8147304" y="2633472"/>
            <a:ext cx="438912" cy="438912"/>
          </a:xfrm>
          <a:prstGeom prst="ellipse">
            <a:avLst/>
          </a:prstGeom>
          <a:solidFill>
            <a:srgbClr val="2F6FAE"/>
          </a:solidFill>
          <a:ln>
            <a:solidFill>
              <a:srgbClr val="2F6FA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0524744" y="2615184"/>
            <a:ext cx="438912" cy="438912"/>
          </a:xfrm>
          <a:prstGeom prst="ellipse">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9304019" y="4000500"/>
            <a:ext cx="502920" cy="502920"/>
          </a:xfrm>
          <a:prstGeom prst="ellipse">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 name="Connector 18"/>
          <p:cNvCxnSpPr/>
          <p:nvPr/>
        </p:nvCxnSpPr>
        <p:spPr>
          <a:xfrm flipH="1">
            <a:off x="8549640" y="1737360"/>
            <a:ext cx="868680" cy="841248"/>
          </a:xfrm>
          <a:prstGeom prst="line">
            <a:avLst/>
          </a:prstGeom>
          <a:ln w="19050">
            <a:solidFill>
              <a:srgbClr val="779CB5"/>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9784080" y="1737360"/>
            <a:ext cx="749808" cy="841248"/>
          </a:xfrm>
          <a:prstGeom prst="line">
            <a:avLst/>
          </a:prstGeom>
          <a:ln w="19050">
            <a:solidFill>
              <a:srgbClr val="779CB5"/>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641080" y="3127248"/>
            <a:ext cx="667512" cy="859536"/>
          </a:xfrm>
          <a:prstGeom prst="line">
            <a:avLst/>
          </a:prstGeom>
          <a:ln w="19050">
            <a:solidFill>
              <a:srgbClr val="779CB5"/>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9811512" y="3127248"/>
            <a:ext cx="658368" cy="859536"/>
          </a:xfrm>
          <a:prstGeom prst="line">
            <a:avLst/>
          </a:prstGeom>
          <a:ln w="19050">
            <a:solidFill>
              <a:srgbClr val="779CB5"/>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9015984" y="1307592"/>
            <a:ext cx="1170432" cy="256032"/>
          </a:xfrm>
          <a:prstGeom prst="rect">
            <a:avLst/>
          </a:prstGeom>
          <a:noFill/>
        </p:spPr>
        <p:txBody>
          <a:bodyPr wrap="square" lIns="27432" tIns="27432" rIns="27432" bIns="27432" anchor="t">
            <a:spAutoFit/>
          </a:bodyPr>
          <a:lstStyle/>
          <a:p>
            <a:pPr algn="ctr"/>
            <a:r>
              <a:rPr sz="900" b="1">
                <a:solidFill>
                  <a:srgbClr val="0B1F33"/>
                </a:solidFill>
                <a:latin typeface="Aptos"/>
              </a:rPr>
              <a:t>reviews</a:t>
            </a:r>
          </a:p>
        </p:txBody>
      </p:sp>
      <p:sp>
        <p:nvSpPr>
          <p:cNvPr id="24" name="TextBox 23"/>
          <p:cNvSpPr txBox="1"/>
          <p:nvPr/>
        </p:nvSpPr>
        <p:spPr>
          <a:xfrm>
            <a:off x="7936992" y="2761488"/>
            <a:ext cx="868680" cy="201168"/>
          </a:xfrm>
          <a:prstGeom prst="rect">
            <a:avLst/>
          </a:prstGeom>
          <a:noFill/>
        </p:spPr>
        <p:txBody>
          <a:bodyPr wrap="square" lIns="27432" tIns="27432" rIns="27432" bIns="27432" anchor="t">
            <a:spAutoFit/>
          </a:bodyPr>
          <a:lstStyle/>
          <a:p>
            <a:pPr algn="ctr"/>
            <a:r>
              <a:rPr sz="800" b="1">
                <a:solidFill>
                  <a:srgbClr val="FFFFFF"/>
                </a:solidFill>
                <a:latin typeface="Aptos"/>
              </a:rPr>
              <a:t>similarity</a:t>
            </a:r>
          </a:p>
        </p:txBody>
      </p:sp>
      <p:sp>
        <p:nvSpPr>
          <p:cNvPr id="25" name="TextBox 24"/>
          <p:cNvSpPr txBox="1"/>
          <p:nvPr/>
        </p:nvSpPr>
        <p:spPr>
          <a:xfrm>
            <a:off x="10296144" y="2761488"/>
            <a:ext cx="914400" cy="201168"/>
          </a:xfrm>
          <a:prstGeom prst="rect">
            <a:avLst/>
          </a:prstGeom>
          <a:noFill/>
        </p:spPr>
        <p:txBody>
          <a:bodyPr wrap="square" lIns="27432" tIns="27432" rIns="27432" bIns="27432" anchor="t">
            <a:spAutoFit/>
          </a:bodyPr>
          <a:lstStyle/>
          <a:p>
            <a:pPr algn="ctr"/>
            <a:r>
              <a:rPr sz="800" b="1">
                <a:solidFill>
                  <a:srgbClr val="0B1F33"/>
                </a:solidFill>
                <a:latin typeface="Aptos"/>
              </a:rPr>
              <a:t>preference</a:t>
            </a:r>
          </a:p>
        </p:txBody>
      </p:sp>
      <p:sp>
        <p:nvSpPr>
          <p:cNvPr id="26" name="TextBox 25"/>
          <p:cNvSpPr txBox="1"/>
          <p:nvPr/>
        </p:nvSpPr>
        <p:spPr>
          <a:xfrm>
            <a:off x="9070848" y="4160520"/>
            <a:ext cx="987552" cy="228600"/>
          </a:xfrm>
          <a:prstGeom prst="rect">
            <a:avLst/>
          </a:prstGeom>
          <a:noFill/>
        </p:spPr>
        <p:txBody>
          <a:bodyPr wrap="square" lIns="27432" tIns="27432" rIns="27432" bIns="27432" anchor="t">
            <a:spAutoFit/>
          </a:bodyPr>
          <a:lstStyle/>
          <a:p>
            <a:pPr algn="ctr"/>
            <a:r>
              <a:rPr sz="800" b="1">
                <a:solidFill>
                  <a:srgbClr val="0B1F33"/>
                </a:solidFill>
                <a:latin typeface="Aptos"/>
              </a:rPr>
              <a:t>ranked cars</a:t>
            </a:r>
          </a:p>
        </p:txBody>
      </p:sp>
      <p:sp>
        <p:nvSpPr>
          <p:cNvPr id="27" name="TextBox 26"/>
          <p:cNvSpPr txBox="1"/>
          <p:nvPr/>
        </p:nvSpPr>
        <p:spPr>
          <a:xfrm>
            <a:off x="11201400" y="6565392"/>
            <a:ext cx="411480" cy="164592"/>
          </a:xfrm>
          <a:prstGeom prst="rect">
            <a:avLst/>
          </a:prstGeom>
          <a:noFill/>
        </p:spPr>
        <p:txBody>
          <a:bodyPr wrap="square" lIns="27432" tIns="27432" rIns="27432" bIns="27432" anchor="t">
            <a:spAutoFit/>
          </a:bodyPr>
          <a:lstStyle/>
          <a:p>
            <a:pPr algn="r"/>
            <a:r>
              <a:rPr sz="850" b="1">
                <a:solidFill>
                  <a:srgbClr val="FFFFFF"/>
                </a:solidFill>
                <a:latin typeface="Aptos"/>
              </a:rPr>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8FB"/>
          </a:solidFill>
          <a:ln w="12700">
            <a:solidFill>
              <a:srgbClr val="F4F8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74320"/>
            <a:ext cx="3657600" cy="256032"/>
          </a:xfrm>
          <a:prstGeom prst="rect">
            <a:avLst/>
          </a:prstGeom>
          <a:noFill/>
        </p:spPr>
        <p:txBody>
          <a:bodyPr wrap="square" lIns="27432" tIns="27432" rIns="27432" bIns="27432" anchor="t">
            <a:spAutoFit/>
          </a:bodyPr>
          <a:lstStyle/>
          <a:p>
            <a:pPr algn="l"/>
            <a:r>
              <a:rPr sz="1000" b="1">
                <a:solidFill>
                  <a:srgbClr val="0C7D76"/>
                </a:solidFill>
                <a:latin typeface="Aptos"/>
              </a:rPr>
              <a:t>PROJECT FRAMING</a:t>
            </a:r>
          </a:p>
        </p:txBody>
      </p:sp>
      <p:sp>
        <p:nvSpPr>
          <p:cNvPr id="4" name="TextBox 3"/>
          <p:cNvSpPr txBox="1"/>
          <p:nvPr/>
        </p:nvSpPr>
        <p:spPr>
          <a:xfrm>
            <a:off x="566928" y="548640"/>
            <a:ext cx="10607040" cy="502920"/>
          </a:xfrm>
          <a:prstGeom prst="rect">
            <a:avLst/>
          </a:prstGeom>
          <a:noFill/>
        </p:spPr>
        <p:txBody>
          <a:bodyPr wrap="square" lIns="27432" tIns="27432" rIns="27432" bIns="27432" anchor="t">
            <a:spAutoFit/>
          </a:bodyPr>
          <a:lstStyle/>
          <a:p>
            <a:pPr algn="l"/>
            <a:r>
              <a:rPr sz="2600" b="1">
                <a:solidFill>
                  <a:srgbClr val="0B1F33"/>
                </a:solidFill>
                <a:latin typeface="Aptos Display"/>
              </a:rPr>
              <a:t>What problem are we solving?</a:t>
            </a:r>
          </a:p>
        </p:txBody>
      </p:sp>
      <p:sp>
        <p:nvSpPr>
          <p:cNvPr id="5" name="TextBox 4"/>
          <p:cNvSpPr txBox="1"/>
          <p:nvPr/>
        </p:nvSpPr>
        <p:spPr>
          <a:xfrm>
            <a:off x="594360" y="1014984"/>
            <a:ext cx="10789920" cy="384048"/>
          </a:xfrm>
          <a:prstGeom prst="rect">
            <a:avLst/>
          </a:prstGeom>
          <a:noFill/>
        </p:spPr>
        <p:txBody>
          <a:bodyPr wrap="square" lIns="27432" tIns="27432" rIns="27432" bIns="27432" anchor="t">
            <a:spAutoFit/>
          </a:bodyPr>
          <a:lstStyle/>
          <a:p>
            <a:pPr algn="l"/>
            <a:r>
              <a:rPr sz="1150" b="0">
                <a:solidFill>
                  <a:srgbClr val="5D6F80"/>
                </a:solidFill>
                <a:latin typeface="Aptos"/>
              </a:rPr>
              <a:t>A single dataset must support content, collaborative, and hybrid recommendation.</a:t>
            </a:r>
          </a:p>
        </p:txBody>
      </p:sp>
      <p:sp>
        <p:nvSpPr>
          <p:cNvPr id="6" name="Oval 5"/>
          <p:cNvSpPr/>
          <p:nvPr/>
        </p:nvSpPr>
        <p:spPr>
          <a:xfrm>
            <a:off x="11201400" y="274320"/>
            <a:ext cx="411480" cy="411480"/>
          </a:xfrm>
          <a:prstGeom prst="ellipse">
            <a:avLst/>
          </a:prstGeom>
          <a:solidFill>
            <a:srgbClr val="0B1F33"/>
          </a:solidFill>
          <a:ln>
            <a:solidFill>
              <a:srgbClr val="0B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201400" y="274320"/>
            <a:ext cx="411480" cy="411480"/>
          </a:xfrm>
          <a:prstGeom prst="rect">
            <a:avLst/>
          </a:prstGeom>
          <a:noFill/>
        </p:spPr>
        <p:txBody>
          <a:bodyPr wrap="square" lIns="27432" tIns="27432" rIns="27432" bIns="27432" anchor="ctr">
            <a:spAutoFit/>
          </a:bodyPr>
          <a:lstStyle/>
          <a:p>
            <a:pPr algn="ctr"/>
            <a:r>
              <a:rPr sz="1100" b="1">
                <a:solidFill>
                  <a:srgbClr val="FFFFFF"/>
                </a:solidFill>
                <a:latin typeface="Aptos"/>
              </a:rPr>
              <a:t>2</a:t>
            </a:r>
          </a:p>
        </p:txBody>
      </p:sp>
      <p:sp>
        <p:nvSpPr>
          <p:cNvPr id="8" name="Rounded Rectangle 7"/>
          <p:cNvSpPr/>
          <p:nvPr/>
        </p:nvSpPr>
        <p:spPr>
          <a:xfrm>
            <a:off x="594360" y="1572768"/>
            <a:ext cx="4846320" cy="1828800"/>
          </a:xfrm>
          <a:prstGeom prst="roundRect">
            <a:avLst/>
          </a:prstGeom>
          <a:solidFill>
            <a:srgbClr val="FFFFFF"/>
          </a:solidFill>
          <a:ln w="12700">
            <a:solidFill>
              <a:srgbClr val="D3DEE7"/>
            </a:solidFill>
          </a:ln>
        </p:spPr>
        <p:style>
          <a:lnRef idx="1">
            <a:schemeClr val="accent1"/>
          </a:lnRef>
          <a:fillRef idx="3">
            <a:schemeClr val="accent1"/>
          </a:fillRef>
          <a:effectRef idx="2">
            <a:schemeClr val="accent1"/>
          </a:effectRef>
          <a:fontRef idx="minor">
            <a:schemeClr val="lt1"/>
          </a:fontRef>
        </p:style>
        <p:txBody>
          <a:bodyPr wrap="square" lIns="201168" tIns="137160" rIns="164592" bIns="109728" rtlCol="0" anchor="ctr"/>
          <a:lstStyle/>
          <a:p>
            <a:pPr algn="ctr">
              <a:spcAft>
                <a:spcPts val="800"/>
              </a:spcAft>
            </a:pPr>
            <a:r>
              <a:rPr sz="1000" b="1">
                <a:solidFill>
                  <a:srgbClr val="0C7D76"/>
                </a:solidFill>
                <a:latin typeface="Aptos"/>
              </a:rPr>
              <a:t>THE QUESTION</a:t>
            </a:r>
          </a:p>
          <a:p>
            <a:pPr>
              <a:spcAft>
                <a:spcPts val="800"/>
              </a:spcAft>
            </a:pPr>
            <a:r>
              <a:rPr sz="2300" b="1">
                <a:solidFill>
                  <a:srgbClr val="0B1F33"/>
                </a:solidFill>
                <a:latin typeface="Aptos"/>
              </a:rPr>
              <a:t>Which vehicle should this user explore next?</a:t>
            </a:r>
          </a:p>
          <a:p>
            <a:pPr>
              <a:spcAft>
                <a:spcPts val="0"/>
              </a:spcAft>
            </a:pPr>
            <a:r>
              <a:rPr sz="1250" b="0">
                <a:solidFill>
                  <a:srgbClr val="5D6F80"/>
                </a:solidFill>
                <a:latin typeface="Aptos"/>
              </a:rPr>
              <a:t>Use what reviewers wrote, how they rated vehicles, and the selected vehicle context.</a:t>
            </a:r>
          </a:p>
        </p:txBody>
      </p:sp>
      <p:sp>
        <p:nvSpPr>
          <p:cNvPr id="9" name="Rounded Rectangle 8"/>
          <p:cNvSpPr/>
          <p:nvPr/>
        </p:nvSpPr>
        <p:spPr>
          <a:xfrm>
            <a:off x="5806440" y="1536192"/>
            <a:ext cx="5715000" cy="1051560"/>
          </a:xfrm>
          <a:prstGeom prst="roundRect">
            <a:avLst/>
          </a:prstGeom>
          <a:solidFill>
            <a:srgbClr val="FFFFFF"/>
          </a:solidFill>
          <a:ln w="12700">
            <a:solidFill>
              <a:srgbClr val="D3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5806440" y="1536192"/>
            <a:ext cx="658368" cy="1051560"/>
          </a:xfrm>
          <a:prstGeom prst="roundRect">
            <a:avLst/>
          </a:prstGeom>
          <a:solidFill>
            <a:srgbClr val="16B3A3"/>
          </a:solidFill>
          <a:ln w="12700">
            <a:solidFill>
              <a:srgbClr val="16B3A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16168" y="1847088"/>
            <a:ext cx="411480" cy="292608"/>
          </a:xfrm>
          <a:prstGeom prst="rect">
            <a:avLst/>
          </a:prstGeom>
          <a:noFill/>
        </p:spPr>
        <p:txBody>
          <a:bodyPr wrap="square" lIns="27432" tIns="27432" rIns="27432" bIns="27432" anchor="t">
            <a:spAutoFit/>
          </a:bodyPr>
          <a:lstStyle/>
          <a:p>
            <a:pPr algn="ctr"/>
            <a:r>
              <a:rPr sz="1400" b="1">
                <a:solidFill>
                  <a:srgbClr val="FFFFFF"/>
                </a:solidFill>
                <a:latin typeface="Aptos"/>
              </a:rPr>
              <a:t>01</a:t>
            </a:r>
          </a:p>
        </p:txBody>
      </p:sp>
      <p:sp>
        <p:nvSpPr>
          <p:cNvPr id="12" name="TextBox 11"/>
          <p:cNvSpPr txBox="1"/>
          <p:nvPr/>
        </p:nvSpPr>
        <p:spPr>
          <a:xfrm>
            <a:off x="6693408" y="1700784"/>
            <a:ext cx="2103120" cy="274320"/>
          </a:xfrm>
          <a:prstGeom prst="rect">
            <a:avLst/>
          </a:prstGeom>
          <a:noFill/>
        </p:spPr>
        <p:txBody>
          <a:bodyPr wrap="square" lIns="27432" tIns="27432" rIns="27432" bIns="27432" anchor="t">
            <a:spAutoFit/>
          </a:bodyPr>
          <a:lstStyle/>
          <a:p>
            <a:pPr algn="l"/>
            <a:r>
              <a:rPr sz="1400" b="1">
                <a:solidFill>
                  <a:srgbClr val="0B1F33"/>
                </a:solidFill>
                <a:latin typeface="Aptos"/>
              </a:rPr>
              <a:t>Content relevance</a:t>
            </a:r>
          </a:p>
        </p:txBody>
      </p:sp>
      <p:sp>
        <p:nvSpPr>
          <p:cNvPr id="13" name="TextBox 12"/>
          <p:cNvSpPr txBox="1"/>
          <p:nvPr/>
        </p:nvSpPr>
        <p:spPr>
          <a:xfrm>
            <a:off x="6693408" y="2029967"/>
            <a:ext cx="4480560" cy="365760"/>
          </a:xfrm>
          <a:prstGeom prst="rect">
            <a:avLst/>
          </a:prstGeom>
          <a:noFill/>
        </p:spPr>
        <p:txBody>
          <a:bodyPr wrap="square" lIns="27432" tIns="27432" rIns="27432" bIns="27432" anchor="t">
            <a:spAutoFit/>
          </a:bodyPr>
          <a:lstStyle/>
          <a:p>
            <a:pPr algn="l"/>
            <a:r>
              <a:rPr sz="1050" b="0">
                <a:solidFill>
                  <a:srgbClr val="5D6F80"/>
                </a:solidFill>
                <a:latin typeface="Aptos"/>
              </a:rPr>
              <a:t>Find vehicles described with similar review language.</a:t>
            </a:r>
          </a:p>
        </p:txBody>
      </p:sp>
      <p:sp>
        <p:nvSpPr>
          <p:cNvPr id="14" name="Rounded Rectangle 13"/>
          <p:cNvSpPr/>
          <p:nvPr/>
        </p:nvSpPr>
        <p:spPr>
          <a:xfrm>
            <a:off x="5806440" y="2862072"/>
            <a:ext cx="5715000" cy="1051560"/>
          </a:xfrm>
          <a:prstGeom prst="roundRect">
            <a:avLst/>
          </a:prstGeom>
          <a:solidFill>
            <a:srgbClr val="FFFFFF"/>
          </a:solidFill>
          <a:ln w="12700">
            <a:solidFill>
              <a:srgbClr val="D3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5806440" y="2862072"/>
            <a:ext cx="658368" cy="1051560"/>
          </a:xfrm>
          <a:prstGeom prst="roundRect">
            <a:avLst/>
          </a:prstGeom>
          <a:solidFill>
            <a:srgbClr val="2F6FAE"/>
          </a:solidFill>
          <a:ln w="12700">
            <a:solidFill>
              <a:srgbClr val="2F6FA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16168" y="3172968"/>
            <a:ext cx="411480" cy="292608"/>
          </a:xfrm>
          <a:prstGeom prst="rect">
            <a:avLst/>
          </a:prstGeom>
          <a:noFill/>
        </p:spPr>
        <p:txBody>
          <a:bodyPr wrap="square" lIns="27432" tIns="27432" rIns="27432" bIns="27432" anchor="t">
            <a:spAutoFit/>
          </a:bodyPr>
          <a:lstStyle/>
          <a:p>
            <a:pPr algn="ctr"/>
            <a:r>
              <a:rPr sz="1400" b="1">
                <a:solidFill>
                  <a:srgbClr val="FFFFFF"/>
                </a:solidFill>
                <a:latin typeface="Aptos"/>
              </a:rPr>
              <a:t>02</a:t>
            </a:r>
          </a:p>
        </p:txBody>
      </p:sp>
      <p:sp>
        <p:nvSpPr>
          <p:cNvPr id="17" name="TextBox 16"/>
          <p:cNvSpPr txBox="1"/>
          <p:nvPr/>
        </p:nvSpPr>
        <p:spPr>
          <a:xfrm>
            <a:off x="6693408" y="3026664"/>
            <a:ext cx="2103120" cy="274320"/>
          </a:xfrm>
          <a:prstGeom prst="rect">
            <a:avLst/>
          </a:prstGeom>
          <a:noFill/>
        </p:spPr>
        <p:txBody>
          <a:bodyPr wrap="square" lIns="27432" tIns="27432" rIns="27432" bIns="27432" anchor="t">
            <a:spAutoFit/>
          </a:bodyPr>
          <a:lstStyle/>
          <a:p>
            <a:pPr algn="l"/>
            <a:r>
              <a:rPr sz="1400" b="1">
                <a:solidFill>
                  <a:srgbClr val="0B1F33"/>
                </a:solidFill>
                <a:latin typeface="Aptos"/>
              </a:rPr>
              <a:t>Personal preference</a:t>
            </a:r>
          </a:p>
        </p:txBody>
      </p:sp>
      <p:sp>
        <p:nvSpPr>
          <p:cNvPr id="18" name="TextBox 17"/>
          <p:cNvSpPr txBox="1"/>
          <p:nvPr/>
        </p:nvSpPr>
        <p:spPr>
          <a:xfrm>
            <a:off x="6693408" y="3355848"/>
            <a:ext cx="4480560" cy="365760"/>
          </a:xfrm>
          <a:prstGeom prst="rect">
            <a:avLst/>
          </a:prstGeom>
          <a:noFill/>
        </p:spPr>
        <p:txBody>
          <a:bodyPr wrap="square" lIns="27432" tIns="27432" rIns="27432" bIns="27432" anchor="t">
            <a:spAutoFit/>
          </a:bodyPr>
          <a:lstStyle/>
          <a:p>
            <a:pPr algn="l"/>
            <a:r>
              <a:rPr sz="1050" b="0">
                <a:solidFill>
                  <a:srgbClr val="5D6F80"/>
                </a:solidFill>
                <a:latin typeface="Aptos"/>
              </a:rPr>
              <a:t>Learn user–vehicle patterns from repeated ratings.</a:t>
            </a:r>
          </a:p>
        </p:txBody>
      </p:sp>
      <p:sp>
        <p:nvSpPr>
          <p:cNvPr id="19" name="Rounded Rectangle 18"/>
          <p:cNvSpPr/>
          <p:nvPr/>
        </p:nvSpPr>
        <p:spPr>
          <a:xfrm>
            <a:off x="5806440" y="4187952"/>
            <a:ext cx="5715000" cy="1051560"/>
          </a:xfrm>
          <a:prstGeom prst="roundRect">
            <a:avLst/>
          </a:prstGeom>
          <a:solidFill>
            <a:srgbClr val="FFFFFF"/>
          </a:solidFill>
          <a:ln w="12700">
            <a:solidFill>
              <a:srgbClr val="D3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5806440" y="4187952"/>
            <a:ext cx="658368" cy="1051560"/>
          </a:xfrm>
          <a:prstGeom prst="roundRect">
            <a:avLst/>
          </a:prstGeom>
          <a:solidFill>
            <a:srgbClr val="F59E0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916168" y="4498848"/>
            <a:ext cx="411480" cy="292608"/>
          </a:xfrm>
          <a:prstGeom prst="rect">
            <a:avLst/>
          </a:prstGeom>
          <a:noFill/>
        </p:spPr>
        <p:txBody>
          <a:bodyPr wrap="square" lIns="27432" tIns="27432" rIns="27432" bIns="27432" anchor="t">
            <a:spAutoFit/>
          </a:bodyPr>
          <a:lstStyle/>
          <a:p>
            <a:pPr algn="ctr"/>
            <a:r>
              <a:rPr sz="1400" b="1">
                <a:solidFill>
                  <a:srgbClr val="0B1F33"/>
                </a:solidFill>
                <a:latin typeface="Aptos"/>
              </a:rPr>
              <a:t>03</a:t>
            </a:r>
          </a:p>
        </p:txBody>
      </p:sp>
      <p:sp>
        <p:nvSpPr>
          <p:cNvPr id="22" name="TextBox 21"/>
          <p:cNvSpPr txBox="1"/>
          <p:nvPr/>
        </p:nvSpPr>
        <p:spPr>
          <a:xfrm>
            <a:off x="6693408" y="4352544"/>
            <a:ext cx="2103120" cy="274320"/>
          </a:xfrm>
          <a:prstGeom prst="rect">
            <a:avLst/>
          </a:prstGeom>
          <a:noFill/>
        </p:spPr>
        <p:txBody>
          <a:bodyPr wrap="square" lIns="27432" tIns="27432" rIns="27432" bIns="27432" anchor="t">
            <a:spAutoFit/>
          </a:bodyPr>
          <a:lstStyle/>
          <a:p>
            <a:pPr algn="l"/>
            <a:r>
              <a:rPr sz="1400" b="1">
                <a:solidFill>
                  <a:srgbClr val="0B1F33"/>
                </a:solidFill>
                <a:latin typeface="Aptos"/>
              </a:rPr>
              <a:t>Practical ranking</a:t>
            </a:r>
          </a:p>
        </p:txBody>
      </p:sp>
      <p:sp>
        <p:nvSpPr>
          <p:cNvPr id="23" name="TextBox 22"/>
          <p:cNvSpPr txBox="1"/>
          <p:nvPr/>
        </p:nvSpPr>
        <p:spPr>
          <a:xfrm>
            <a:off x="6693408" y="4681728"/>
            <a:ext cx="4480560" cy="365760"/>
          </a:xfrm>
          <a:prstGeom prst="rect">
            <a:avLst/>
          </a:prstGeom>
          <a:noFill/>
        </p:spPr>
        <p:txBody>
          <a:bodyPr wrap="square" lIns="27432" tIns="27432" rIns="27432" bIns="27432" anchor="t">
            <a:spAutoFit/>
          </a:bodyPr>
          <a:lstStyle/>
          <a:p>
            <a:pPr algn="l"/>
            <a:r>
              <a:rPr sz="1050" b="0">
                <a:solidFill>
                  <a:srgbClr val="5D6F80"/>
                </a:solidFill>
                <a:latin typeface="Aptos"/>
              </a:rPr>
              <a:t>Blend both signals and return useful metadata.</a:t>
            </a:r>
          </a:p>
        </p:txBody>
      </p:sp>
      <p:sp>
        <p:nvSpPr>
          <p:cNvPr id="24" name="TextBox 23"/>
          <p:cNvSpPr txBox="1"/>
          <p:nvPr/>
        </p:nvSpPr>
        <p:spPr>
          <a:xfrm>
            <a:off x="658368" y="3767328"/>
            <a:ext cx="2377440" cy="320040"/>
          </a:xfrm>
          <a:prstGeom prst="rect">
            <a:avLst/>
          </a:prstGeom>
          <a:noFill/>
        </p:spPr>
        <p:txBody>
          <a:bodyPr wrap="square" lIns="27432" tIns="27432" rIns="27432" bIns="27432" anchor="t">
            <a:spAutoFit/>
          </a:bodyPr>
          <a:lstStyle/>
          <a:p>
            <a:pPr algn="l"/>
            <a:r>
              <a:rPr sz="1400" b="1">
                <a:solidFill>
                  <a:srgbClr val="0B1F33"/>
                </a:solidFill>
                <a:latin typeface="Aptos"/>
              </a:rPr>
              <a:t>Grading alignment</a:t>
            </a:r>
          </a:p>
        </p:txBody>
      </p:sp>
      <p:sp>
        <p:nvSpPr>
          <p:cNvPr id="25" name="TextBox 24"/>
          <p:cNvSpPr txBox="1"/>
          <p:nvPr/>
        </p:nvSpPr>
        <p:spPr>
          <a:xfrm>
            <a:off x="658368" y="4160520"/>
            <a:ext cx="4754880" cy="1600200"/>
          </a:xfrm>
          <a:prstGeom prst="rect">
            <a:avLst/>
          </a:prstGeom>
          <a:noFill/>
        </p:spPr>
        <p:txBody>
          <a:bodyPr wrap="square" lIns="27432" rIns="18288">
            <a:spAutoFit/>
          </a:bodyPr>
          <a:lstStyle/>
          <a:p>
            <a:pPr>
              <a:spcAft>
                <a:spcPts val="900"/>
              </a:spcAft>
              <a:defRPr sz="1250">
                <a:solidFill>
                  <a:srgbClr val="22303E"/>
                </a:solidFill>
                <a:latin typeface="Aptos"/>
              </a:defRPr>
            </a:pPr>
            <a:r>
              <a:t>●  Clear dataset, features, and goal</a:t>
            </a:r>
          </a:p>
          <a:p>
            <a:pPr>
              <a:spcAft>
                <a:spcPts val="900"/>
              </a:spcAft>
              <a:defRPr sz="1250">
                <a:solidFill>
                  <a:srgbClr val="22303E"/>
                </a:solidFill>
                <a:latin typeface="Aptos"/>
              </a:defRPr>
            </a:pPr>
            <a:r>
              <a:t>●  Substantial cleaning and preprocessing</a:t>
            </a:r>
          </a:p>
          <a:p>
            <a:pPr>
              <a:spcAft>
                <a:spcPts val="900"/>
              </a:spcAft>
              <a:defRPr sz="1250">
                <a:solidFill>
                  <a:srgbClr val="22303E"/>
                </a:solidFill>
                <a:latin typeface="Aptos"/>
              </a:defRPr>
            </a:pPr>
            <a:r>
              <a:t>●  Three required recommender functions</a:t>
            </a:r>
          </a:p>
          <a:p>
            <a:pPr>
              <a:spcAft>
                <a:spcPts val="900"/>
              </a:spcAft>
              <a:defRPr sz="1250">
                <a:solidFill>
                  <a:srgbClr val="22303E"/>
                </a:solidFill>
                <a:latin typeface="Aptos"/>
              </a:defRPr>
            </a:pPr>
            <a:r>
              <a:t>●  Efficiency, evaluation, and limitations</a:t>
            </a:r>
          </a:p>
        </p:txBody>
      </p:sp>
      <p:sp>
        <p:nvSpPr>
          <p:cNvPr id="26" name="TextBox 25"/>
          <p:cNvSpPr txBox="1"/>
          <p:nvPr/>
        </p:nvSpPr>
        <p:spPr>
          <a:xfrm>
            <a:off x="5833872" y="5916168"/>
            <a:ext cx="5486400" cy="219456"/>
          </a:xfrm>
          <a:prstGeom prst="rect">
            <a:avLst/>
          </a:prstGeom>
          <a:noFill/>
        </p:spPr>
        <p:txBody>
          <a:bodyPr wrap="square" lIns="27432" tIns="27432" rIns="27432" bIns="27432" anchor="t">
            <a:spAutoFit/>
          </a:bodyPr>
          <a:lstStyle/>
          <a:p>
            <a:pPr algn="r"/>
            <a:r>
              <a:rPr sz="850" b="0">
                <a:solidFill>
                  <a:srgbClr val="5D6F80"/>
                </a:solidFill>
                <a:latin typeface="Aptos"/>
              </a:rPr>
              <a:t>Source: Kaggle • Structured Edmunds Car Reviews Dataset</a:t>
            </a:r>
          </a:p>
        </p:txBody>
      </p:sp>
      <p:sp>
        <p:nvSpPr>
          <p:cNvPr id="27" name="Rectangle 26"/>
          <p:cNvSpPr/>
          <p:nvPr/>
        </p:nvSpPr>
        <p:spPr>
          <a:xfrm>
            <a:off x="0" y="6565392"/>
            <a:ext cx="12191695" cy="292608"/>
          </a:xfrm>
          <a:prstGeom prst="rect">
            <a:avLst/>
          </a:prstGeom>
          <a:solidFill>
            <a:srgbClr val="0B1F33"/>
          </a:solidFill>
          <a:ln>
            <a:solidFill>
              <a:srgbClr val="0B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30352" y="6611112"/>
            <a:ext cx="5029200" cy="155448"/>
          </a:xfrm>
          <a:prstGeom prst="rect">
            <a:avLst/>
          </a:prstGeom>
          <a:noFill/>
        </p:spPr>
        <p:txBody>
          <a:bodyPr wrap="square" lIns="27432" tIns="27432" rIns="27432" bIns="27432" anchor="t">
            <a:spAutoFit/>
          </a:bodyPr>
          <a:lstStyle/>
          <a:p>
            <a:pPr algn="l"/>
            <a:r>
              <a:rPr sz="850" b="0">
                <a:solidFill>
                  <a:srgbClr val="FFFFFF"/>
                </a:solidFill>
                <a:latin typeface="Aptos"/>
              </a:rPr>
              <a:t>DSC 201 • Project 1</a:t>
            </a:r>
          </a:p>
        </p:txBody>
      </p:sp>
      <p:sp>
        <p:nvSpPr>
          <p:cNvPr id="29" name="TextBox 28"/>
          <p:cNvSpPr txBox="1"/>
          <p:nvPr/>
        </p:nvSpPr>
        <p:spPr>
          <a:xfrm>
            <a:off x="11201400" y="6611112"/>
            <a:ext cx="411480" cy="155448"/>
          </a:xfrm>
          <a:prstGeom prst="rect">
            <a:avLst/>
          </a:prstGeom>
          <a:noFill/>
        </p:spPr>
        <p:txBody>
          <a:bodyPr wrap="square" lIns="27432" tIns="27432" rIns="27432" bIns="27432" anchor="t">
            <a:spAutoFit/>
          </a:bodyPr>
          <a:lstStyle/>
          <a:p>
            <a:pPr algn="r"/>
            <a:r>
              <a:rPr sz="850" b="1">
                <a:solidFill>
                  <a:srgbClr val="FFFFFF"/>
                </a:solidFill>
                <a:latin typeface="Aptos"/>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74320"/>
            <a:ext cx="3657600" cy="256032"/>
          </a:xfrm>
          <a:prstGeom prst="rect">
            <a:avLst/>
          </a:prstGeom>
          <a:noFill/>
        </p:spPr>
        <p:txBody>
          <a:bodyPr wrap="square" lIns="27432" tIns="27432" rIns="27432" bIns="27432" anchor="t">
            <a:spAutoFit/>
          </a:bodyPr>
          <a:lstStyle/>
          <a:p>
            <a:pPr algn="l"/>
            <a:r>
              <a:rPr sz="1000" b="1">
                <a:solidFill>
                  <a:srgbClr val="0C7D76"/>
                </a:solidFill>
                <a:latin typeface="Aptos"/>
              </a:rPr>
              <a:t>DATASET</a:t>
            </a:r>
          </a:p>
        </p:txBody>
      </p:sp>
      <p:sp>
        <p:nvSpPr>
          <p:cNvPr id="4" name="TextBox 3"/>
          <p:cNvSpPr txBox="1"/>
          <p:nvPr/>
        </p:nvSpPr>
        <p:spPr>
          <a:xfrm>
            <a:off x="566928" y="548640"/>
            <a:ext cx="10607040" cy="502920"/>
          </a:xfrm>
          <a:prstGeom prst="rect">
            <a:avLst/>
          </a:prstGeom>
          <a:noFill/>
        </p:spPr>
        <p:txBody>
          <a:bodyPr wrap="square" lIns="27432" tIns="27432" rIns="27432" bIns="27432" anchor="t">
            <a:spAutoFit/>
          </a:bodyPr>
          <a:lstStyle/>
          <a:p>
            <a:pPr algn="l"/>
            <a:r>
              <a:rPr sz="2600" b="1">
                <a:solidFill>
                  <a:srgbClr val="0B1F33"/>
                </a:solidFill>
                <a:latin typeface="Aptos Display"/>
              </a:rPr>
              <a:t>226K reviews across the vehicle market</a:t>
            </a:r>
          </a:p>
        </p:txBody>
      </p:sp>
      <p:sp>
        <p:nvSpPr>
          <p:cNvPr id="5" name="TextBox 4"/>
          <p:cNvSpPr txBox="1"/>
          <p:nvPr/>
        </p:nvSpPr>
        <p:spPr>
          <a:xfrm>
            <a:off x="594360" y="1014984"/>
            <a:ext cx="10789920" cy="384048"/>
          </a:xfrm>
          <a:prstGeom prst="rect">
            <a:avLst/>
          </a:prstGeom>
          <a:noFill/>
        </p:spPr>
        <p:txBody>
          <a:bodyPr wrap="square" lIns="27432" tIns="27432" rIns="27432" bIns="27432" anchor="t">
            <a:spAutoFit/>
          </a:bodyPr>
          <a:lstStyle/>
          <a:p>
            <a:pPr algn="l"/>
            <a:r>
              <a:rPr sz="1150" b="0">
                <a:solidFill>
                  <a:srgbClr val="5D6F80"/>
                </a:solidFill>
                <a:latin typeface="Aptos"/>
              </a:rPr>
              <a:t>Text supports content filtering; author–vehicle ratings support collaborative filtering.</a:t>
            </a:r>
          </a:p>
        </p:txBody>
      </p:sp>
      <p:sp>
        <p:nvSpPr>
          <p:cNvPr id="6" name="Oval 5"/>
          <p:cNvSpPr/>
          <p:nvPr/>
        </p:nvSpPr>
        <p:spPr>
          <a:xfrm>
            <a:off x="11201400" y="274320"/>
            <a:ext cx="411480" cy="411480"/>
          </a:xfrm>
          <a:prstGeom prst="ellipse">
            <a:avLst/>
          </a:prstGeom>
          <a:solidFill>
            <a:srgbClr val="0B1F33"/>
          </a:solidFill>
          <a:ln>
            <a:solidFill>
              <a:srgbClr val="0B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201400" y="274320"/>
            <a:ext cx="411480" cy="411480"/>
          </a:xfrm>
          <a:prstGeom prst="rect">
            <a:avLst/>
          </a:prstGeom>
          <a:noFill/>
        </p:spPr>
        <p:txBody>
          <a:bodyPr wrap="square" lIns="27432" tIns="27432" rIns="27432" bIns="27432" anchor="ctr">
            <a:spAutoFit/>
          </a:bodyPr>
          <a:lstStyle/>
          <a:p>
            <a:pPr algn="ctr"/>
            <a:r>
              <a:rPr sz="1100" b="1">
                <a:solidFill>
                  <a:srgbClr val="FFFFFF"/>
                </a:solidFill>
                <a:latin typeface="Aptos"/>
              </a:rPr>
              <a:t>3</a:t>
            </a:r>
          </a:p>
        </p:txBody>
      </p:sp>
      <p:pic>
        <p:nvPicPr>
          <p:cNvPr id="8" name="Picture 7" descr="eda_overview.png"/>
          <p:cNvPicPr>
            <a:picLocks noChangeAspect="1"/>
          </p:cNvPicPr>
          <p:nvPr/>
        </p:nvPicPr>
        <p:blipFill>
          <a:blip r:embed="rId3"/>
          <a:stretch>
            <a:fillRect/>
          </a:stretch>
        </p:blipFill>
        <p:spPr>
          <a:xfrm>
            <a:off x="530352" y="1444752"/>
            <a:ext cx="7452360" cy="4617720"/>
          </a:xfrm>
          <a:prstGeom prst="rect">
            <a:avLst/>
          </a:prstGeom>
        </p:spPr>
      </p:pic>
      <p:sp>
        <p:nvSpPr>
          <p:cNvPr id="9" name="Rounded Rectangle 8"/>
          <p:cNvSpPr/>
          <p:nvPr/>
        </p:nvSpPr>
        <p:spPr>
          <a:xfrm>
            <a:off x="8275320" y="1490472"/>
            <a:ext cx="3063240" cy="1170432"/>
          </a:xfrm>
          <a:prstGeom prst="roundRect">
            <a:avLst/>
          </a:prstGeom>
          <a:solidFill>
            <a:srgbClr val="FFFFFF"/>
          </a:solidFill>
          <a:ln w="12700">
            <a:solidFill>
              <a:srgbClr val="D3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275320" y="1490472"/>
            <a:ext cx="73152" cy="1170432"/>
          </a:xfrm>
          <a:prstGeom prst="rect">
            <a:avLst/>
          </a:prstGeom>
          <a:solidFill>
            <a:srgbClr val="16B3A3"/>
          </a:solidFill>
          <a:ln w="12700">
            <a:solidFill>
              <a:srgbClr val="16B3A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03920" y="1627631"/>
            <a:ext cx="2743200" cy="411480"/>
          </a:xfrm>
          <a:prstGeom prst="rect">
            <a:avLst/>
          </a:prstGeom>
          <a:noFill/>
        </p:spPr>
        <p:txBody>
          <a:bodyPr wrap="square" lIns="27432" tIns="27432" rIns="27432" bIns="27432" anchor="t">
            <a:spAutoFit/>
          </a:bodyPr>
          <a:lstStyle/>
          <a:p>
            <a:pPr algn="l"/>
            <a:r>
              <a:rPr sz="2300" b="1">
                <a:solidFill>
                  <a:srgbClr val="0B1F33"/>
                </a:solidFill>
                <a:latin typeface="Aptos Display"/>
              </a:rPr>
              <a:t>226,931</a:t>
            </a:r>
          </a:p>
        </p:txBody>
      </p:sp>
      <p:sp>
        <p:nvSpPr>
          <p:cNvPr id="12" name="TextBox 11"/>
          <p:cNvSpPr txBox="1"/>
          <p:nvPr/>
        </p:nvSpPr>
        <p:spPr>
          <a:xfrm>
            <a:off x="8503920" y="2057400"/>
            <a:ext cx="2743200" cy="320040"/>
          </a:xfrm>
          <a:prstGeom prst="rect">
            <a:avLst/>
          </a:prstGeom>
          <a:noFill/>
        </p:spPr>
        <p:txBody>
          <a:bodyPr wrap="square" lIns="27432" tIns="27432" rIns="27432" bIns="27432" anchor="t">
            <a:spAutoFit/>
          </a:bodyPr>
          <a:lstStyle/>
          <a:p>
            <a:pPr algn="l"/>
            <a:r>
              <a:rPr sz="1050" b="1">
                <a:solidFill>
                  <a:srgbClr val="5D6F80"/>
                </a:solidFill>
                <a:latin typeface="Aptos"/>
              </a:rPr>
              <a:t>RAW REVIEWS</a:t>
            </a:r>
          </a:p>
        </p:txBody>
      </p:sp>
      <p:sp>
        <p:nvSpPr>
          <p:cNvPr id="13" name="Rounded Rectangle 12"/>
          <p:cNvSpPr/>
          <p:nvPr/>
        </p:nvSpPr>
        <p:spPr>
          <a:xfrm>
            <a:off x="8275320" y="2779776"/>
            <a:ext cx="1444752" cy="1170432"/>
          </a:xfrm>
          <a:prstGeom prst="roundRect">
            <a:avLst/>
          </a:prstGeom>
          <a:solidFill>
            <a:srgbClr val="FFFFFF"/>
          </a:solidFill>
          <a:ln w="12700">
            <a:solidFill>
              <a:srgbClr val="D3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275320" y="2779776"/>
            <a:ext cx="73152" cy="1170432"/>
          </a:xfrm>
          <a:prstGeom prst="rect">
            <a:avLst/>
          </a:prstGeom>
          <a:solidFill>
            <a:srgbClr val="2F6FAE"/>
          </a:solidFill>
          <a:ln w="12700">
            <a:solidFill>
              <a:srgbClr val="2F6FA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03920" y="2916936"/>
            <a:ext cx="1124712" cy="411480"/>
          </a:xfrm>
          <a:prstGeom prst="rect">
            <a:avLst/>
          </a:prstGeom>
          <a:noFill/>
        </p:spPr>
        <p:txBody>
          <a:bodyPr wrap="square" lIns="27432" tIns="27432" rIns="27432" bIns="27432" anchor="t">
            <a:spAutoFit/>
          </a:bodyPr>
          <a:lstStyle/>
          <a:p>
            <a:pPr algn="l"/>
            <a:r>
              <a:rPr sz="2300" b="1">
                <a:solidFill>
                  <a:srgbClr val="0B1F33"/>
                </a:solidFill>
                <a:latin typeface="Aptos Display"/>
              </a:rPr>
              <a:t>50</a:t>
            </a:r>
          </a:p>
        </p:txBody>
      </p:sp>
      <p:sp>
        <p:nvSpPr>
          <p:cNvPr id="16" name="TextBox 15"/>
          <p:cNvSpPr txBox="1"/>
          <p:nvPr/>
        </p:nvSpPr>
        <p:spPr>
          <a:xfrm>
            <a:off x="8503920" y="3346704"/>
            <a:ext cx="1124712" cy="320040"/>
          </a:xfrm>
          <a:prstGeom prst="rect">
            <a:avLst/>
          </a:prstGeom>
          <a:noFill/>
        </p:spPr>
        <p:txBody>
          <a:bodyPr wrap="square" lIns="27432" tIns="27432" rIns="27432" bIns="27432" anchor="t">
            <a:spAutoFit/>
          </a:bodyPr>
          <a:lstStyle/>
          <a:p>
            <a:pPr algn="l"/>
            <a:r>
              <a:rPr sz="1050" b="1">
                <a:solidFill>
                  <a:srgbClr val="5D6F80"/>
                </a:solidFill>
                <a:latin typeface="Aptos"/>
              </a:rPr>
              <a:t>MANUFACTURERS</a:t>
            </a:r>
          </a:p>
        </p:txBody>
      </p:sp>
      <p:sp>
        <p:nvSpPr>
          <p:cNvPr id="17" name="Rounded Rectangle 16"/>
          <p:cNvSpPr/>
          <p:nvPr/>
        </p:nvSpPr>
        <p:spPr>
          <a:xfrm>
            <a:off x="9893808" y="2779776"/>
            <a:ext cx="1444752" cy="1170432"/>
          </a:xfrm>
          <a:prstGeom prst="roundRect">
            <a:avLst/>
          </a:prstGeom>
          <a:solidFill>
            <a:srgbClr val="FFFFFF"/>
          </a:solidFill>
          <a:ln w="12700">
            <a:solidFill>
              <a:srgbClr val="D3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9893808" y="2779776"/>
            <a:ext cx="73152" cy="1170432"/>
          </a:xfrm>
          <a:prstGeom prst="rect">
            <a:avLst/>
          </a:prstGeom>
          <a:solidFill>
            <a:srgbClr val="F59E0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122408" y="2916936"/>
            <a:ext cx="1124712" cy="411480"/>
          </a:xfrm>
          <a:prstGeom prst="rect">
            <a:avLst/>
          </a:prstGeom>
          <a:noFill/>
        </p:spPr>
        <p:txBody>
          <a:bodyPr wrap="square" lIns="27432" tIns="27432" rIns="27432" bIns="27432" anchor="t">
            <a:spAutoFit/>
          </a:bodyPr>
          <a:lstStyle/>
          <a:p>
            <a:pPr algn="l"/>
            <a:r>
              <a:rPr sz="2300" b="1">
                <a:solidFill>
                  <a:srgbClr val="0B1F33"/>
                </a:solidFill>
                <a:latin typeface="Aptos Display"/>
              </a:rPr>
              <a:t>29,128</a:t>
            </a:r>
          </a:p>
        </p:txBody>
      </p:sp>
      <p:sp>
        <p:nvSpPr>
          <p:cNvPr id="20" name="TextBox 19"/>
          <p:cNvSpPr txBox="1"/>
          <p:nvPr/>
        </p:nvSpPr>
        <p:spPr>
          <a:xfrm>
            <a:off x="10122408" y="3346704"/>
            <a:ext cx="1124712" cy="320040"/>
          </a:xfrm>
          <a:prstGeom prst="rect">
            <a:avLst/>
          </a:prstGeom>
          <a:noFill/>
        </p:spPr>
        <p:txBody>
          <a:bodyPr wrap="square" lIns="27432" tIns="27432" rIns="27432" bIns="27432" anchor="t">
            <a:spAutoFit/>
          </a:bodyPr>
          <a:lstStyle/>
          <a:p>
            <a:pPr algn="l"/>
            <a:r>
              <a:rPr sz="1050" b="1">
                <a:solidFill>
                  <a:srgbClr val="5D6F80"/>
                </a:solidFill>
                <a:latin typeface="Aptos"/>
              </a:rPr>
              <a:t>VEHICLE TITLES</a:t>
            </a:r>
          </a:p>
        </p:txBody>
      </p:sp>
      <p:sp>
        <p:nvSpPr>
          <p:cNvPr id="21" name="Rounded Rectangle 20"/>
          <p:cNvSpPr/>
          <p:nvPr/>
        </p:nvSpPr>
        <p:spPr>
          <a:xfrm>
            <a:off x="8275320" y="4087368"/>
            <a:ext cx="1444752" cy="1170432"/>
          </a:xfrm>
          <a:prstGeom prst="roundRect">
            <a:avLst/>
          </a:prstGeom>
          <a:solidFill>
            <a:srgbClr val="FFFFFF"/>
          </a:solidFill>
          <a:ln w="12700">
            <a:solidFill>
              <a:srgbClr val="D3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275320" y="4087368"/>
            <a:ext cx="73152" cy="1170432"/>
          </a:xfrm>
          <a:prstGeom prst="rect">
            <a:avLst/>
          </a:prstGeom>
          <a:solidFill>
            <a:srgbClr val="DC4242"/>
          </a:solidFill>
          <a:ln w="12700">
            <a:solidFill>
              <a:srgbClr val="DC42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503920" y="4224528"/>
            <a:ext cx="1124712" cy="411480"/>
          </a:xfrm>
          <a:prstGeom prst="rect">
            <a:avLst/>
          </a:prstGeom>
          <a:noFill/>
        </p:spPr>
        <p:txBody>
          <a:bodyPr wrap="square" lIns="27432" tIns="27432" rIns="27432" bIns="27432" anchor="t">
            <a:spAutoFit/>
          </a:bodyPr>
          <a:lstStyle/>
          <a:p>
            <a:pPr algn="l"/>
            <a:r>
              <a:rPr sz="2300" b="1">
                <a:solidFill>
                  <a:srgbClr val="0B1F33"/>
                </a:solidFill>
                <a:latin typeface="Aptos Display"/>
              </a:rPr>
              <a:t>1–5</a:t>
            </a:r>
          </a:p>
        </p:txBody>
      </p:sp>
      <p:sp>
        <p:nvSpPr>
          <p:cNvPr id="24" name="TextBox 23"/>
          <p:cNvSpPr txBox="1"/>
          <p:nvPr/>
        </p:nvSpPr>
        <p:spPr>
          <a:xfrm>
            <a:off x="8503920" y="4654296"/>
            <a:ext cx="1124712" cy="320040"/>
          </a:xfrm>
          <a:prstGeom prst="rect">
            <a:avLst/>
          </a:prstGeom>
          <a:noFill/>
        </p:spPr>
        <p:txBody>
          <a:bodyPr wrap="square" lIns="27432" tIns="27432" rIns="27432" bIns="27432" anchor="t">
            <a:spAutoFit/>
          </a:bodyPr>
          <a:lstStyle/>
          <a:p>
            <a:pPr algn="l"/>
            <a:r>
              <a:rPr sz="1050" b="1">
                <a:solidFill>
                  <a:srgbClr val="5D6F80"/>
                </a:solidFill>
                <a:latin typeface="Aptos"/>
              </a:rPr>
              <a:t>RATING RANGE</a:t>
            </a:r>
          </a:p>
        </p:txBody>
      </p:sp>
      <p:sp>
        <p:nvSpPr>
          <p:cNvPr id="25" name="Rounded Rectangle 24"/>
          <p:cNvSpPr/>
          <p:nvPr/>
        </p:nvSpPr>
        <p:spPr>
          <a:xfrm>
            <a:off x="9893808" y="4087368"/>
            <a:ext cx="1444752" cy="1170432"/>
          </a:xfrm>
          <a:prstGeom prst="roundRect">
            <a:avLst/>
          </a:prstGeom>
          <a:solidFill>
            <a:srgbClr val="FFFFFF"/>
          </a:solidFill>
          <a:ln w="12700">
            <a:solidFill>
              <a:srgbClr val="D3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9893808" y="4087368"/>
            <a:ext cx="73152" cy="1170432"/>
          </a:xfrm>
          <a:prstGeom prst="rect">
            <a:avLst/>
          </a:prstGeom>
          <a:solidFill>
            <a:srgbClr val="16B3A3"/>
          </a:solidFill>
          <a:ln w="12700">
            <a:solidFill>
              <a:srgbClr val="16B3A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122408" y="4224528"/>
            <a:ext cx="1124712" cy="411480"/>
          </a:xfrm>
          <a:prstGeom prst="rect">
            <a:avLst/>
          </a:prstGeom>
          <a:noFill/>
        </p:spPr>
        <p:txBody>
          <a:bodyPr wrap="square" lIns="27432" tIns="27432" rIns="27432" bIns="27432" anchor="t">
            <a:spAutoFit/>
          </a:bodyPr>
          <a:lstStyle/>
          <a:p>
            <a:pPr algn="l"/>
            <a:r>
              <a:rPr sz="2300" b="1">
                <a:solidFill>
                  <a:srgbClr val="0B1F33"/>
                </a:solidFill>
                <a:latin typeface="Aptos Display"/>
              </a:rPr>
              <a:t>7</a:t>
            </a:r>
          </a:p>
        </p:txBody>
      </p:sp>
      <p:sp>
        <p:nvSpPr>
          <p:cNvPr id="28" name="TextBox 27"/>
          <p:cNvSpPr txBox="1"/>
          <p:nvPr/>
        </p:nvSpPr>
        <p:spPr>
          <a:xfrm>
            <a:off x="10122408" y="4654296"/>
            <a:ext cx="1124712" cy="320040"/>
          </a:xfrm>
          <a:prstGeom prst="rect">
            <a:avLst/>
          </a:prstGeom>
          <a:noFill/>
        </p:spPr>
        <p:txBody>
          <a:bodyPr wrap="square" lIns="27432" tIns="27432" rIns="27432" bIns="27432" anchor="t">
            <a:spAutoFit/>
          </a:bodyPr>
          <a:lstStyle/>
          <a:p>
            <a:pPr algn="l"/>
            <a:r>
              <a:rPr sz="1050" b="1">
                <a:solidFill>
                  <a:srgbClr val="5D6F80"/>
                </a:solidFill>
                <a:latin typeface="Aptos"/>
              </a:rPr>
              <a:t>RAW COLUMNS</a:t>
            </a:r>
          </a:p>
        </p:txBody>
      </p:sp>
      <p:sp>
        <p:nvSpPr>
          <p:cNvPr id="29" name="TextBox 28"/>
          <p:cNvSpPr txBox="1"/>
          <p:nvPr/>
        </p:nvSpPr>
        <p:spPr>
          <a:xfrm>
            <a:off x="8293608" y="5449824"/>
            <a:ext cx="3063240" cy="566928"/>
          </a:xfrm>
          <a:prstGeom prst="rect">
            <a:avLst/>
          </a:prstGeom>
          <a:noFill/>
        </p:spPr>
        <p:txBody>
          <a:bodyPr wrap="square" lIns="27432" tIns="27432" rIns="27432" bIns="27432" anchor="t">
            <a:spAutoFit/>
          </a:bodyPr>
          <a:lstStyle/>
          <a:p>
            <a:pPr algn="l"/>
            <a:r>
              <a:rPr sz="950" b="0">
                <a:solidFill>
                  <a:srgbClr val="5D6F80"/>
                </a:solidFill>
                <a:latin typeface="Aptos"/>
              </a:rPr>
              <a:t>Author • vehicle title • review title • review text • rating • date • manufacturer</a:t>
            </a:r>
          </a:p>
        </p:txBody>
      </p:sp>
      <p:sp>
        <p:nvSpPr>
          <p:cNvPr id="30" name="Rectangle 29"/>
          <p:cNvSpPr/>
          <p:nvPr/>
        </p:nvSpPr>
        <p:spPr>
          <a:xfrm>
            <a:off x="0" y="6565392"/>
            <a:ext cx="12191695" cy="292608"/>
          </a:xfrm>
          <a:prstGeom prst="rect">
            <a:avLst/>
          </a:prstGeom>
          <a:solidFill>
            <a:srgbClr val="0B1F33"/>
          </a:solidFill>
          <a:ln>
            <a:solidFill>
              <a:srgbClr val="0B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30352" y="6611112"/>
            <a:ext cx="5029200" cy="155448"/>
          </a:xfrm>
          <a:prstGeom prst="rect">
            <a:avLst/>
          </a:prstGeom>
          <a:noFill/>
        </p:spPr>
        <p:txBody>
          <a:bodyPr wrap="square" lIns="27432" tIns="27432" rIns="27432" bIns="27432" anchor="t">
            <a:spAutoFit/>
          </a:bodyPr>
          <a:lstStyle/>
          <a:p>
            <a:pPr algn="l"/>
            <a:r>
              <a:rPr sz="850" b="0">
                <a:solidFill>
                  <a:srgbClr val="FFFFFF"/>
                </a:solidFill>
                <a:latin typeface="Aptos"/>
              </a:rPr>
              <a:t>DSC 201 • Project 1</a:t>
            </a:r>
          </a:p>
        </p:txBody>
      </p:sp>
      <p:sp>
        <p:nvSpPr>
          <p:cNvPr id="32" name="TextBox 31"/>
          <p:cNvSpPr txBox="1"/>
          <p:nvPr/>
        </p:nvSpPr>
        <p:spPr>
          <a:xfrm>
            <a:off x="11201400" y="6611112"/>
            <a:ext cx="411480" cy="155448"/>
          </a:xfrm>
          <a:prstGeom prst="rect">
            <a:avLst/>
          </a:prstGeom>
          <a:noFill/>
        </p:spPr>
        <p:txBody>
          <a:bodyPr wrap="square" lIns="27432" tIns="27432" rIns="27432" bIns="27432" anchor="t">
            <a:spAutoFit/>
          </a:bodyPr>
          <a:lstStyle/>
          <a:p>
            <a:pPr algn="r"/>
            <a:r>
              <a:rPr sz="850" b="1">
                <a:solidFill>
                  <a:srgbClr val="FFFFFF"/>
                </a:solidFill>
                <a:latin typeface="Aptos"/>
              </a:rP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8FB"/>
          </a:solidFill>
          <a:ln w="12700">
            <a:solidFill>
              <a:srgbClr val="F4F8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74320"/>
            <a:ext cx="3657600" cy="256032"/>
          </a:xfrm>
          <a:prstGeom prst="rect">
            <a:avLst/>
          </a:prstGeom>
          <a:noFill/>
        </p:spPr>
        <p:txBody>
          <a:bodyPr wrap="square" lIns="27432" tIns="27432" rIns="27432" bIns="27432" anchor="t">
            <a:spAutoFit/>
          </a:bodyPr>
          <a:lstStyle/>
          <a:p>
            <a:pPr algn="l"/>
            <a:r>
              <a:rPr sz="1000" b="1">
                <a:solidFill>
                  <a:srgbClr val="0C7D76"/>
                </a:solidFill>
                <a:latin typeface="Aptos"/>
              </a:rPr>
              <a:t>PREPROCESSING</a:t>
            </a:r>
          </a:p>
        </p:txBody>
      </p:sp>
      <p:sp>
        <p:nvSpPr>
          <p:cNvPr id="4" name="TextBox 3"/>
          <p:cNvSpPr txBox="1"/>
          <p:nvPr/>
        </p:nvSpPr>
        <p:spPr>
          <a:xfrm>
            <a:off x="566928" y="548640"/>
            <a:ext cx="10607040" cy="502920"/>
          </a:xfrm>
          <a:prstGeom prst="rect">
            <a:avLst/>
          </a:prstGeom>
          <a:noFill/>
        </p:spPr>
        <p:txBody>
          <a:bodyPr wrap="square" lIns="27432" tIns="27432" rIns="27432" bIns="27432" anchor="t">
            <a:spAutoFit/>
          </a:bodyPr>
          <a:lstStyle/>
          <a:p>
            <a:pPr algn="l"/>
            <a:r>
              <a:rPr sz="2600" b="1">
                <a:solidFill>
                  <a:srgbClr val="0B1F33"/>
                </a:solidFill>
                <a:latin typeface="Aptos Display"/>
              </a:rPr>
              <a:t>Cleaning was a modeling decision—not a formality</a:t>
            </a:r>
          </a:p>
        </p:txBody>
      </p:sp>
      <p:sp>
        <p:nvSpPr>
          <p:cNvPr id="5" name="TextBox 4"/>
          <p:cNvSpPr txBox="1"/>
          <p:nvPr/>
        </p:nvSpPr>
        <p:spPr>
          <a:xfrm>
            <a:off x="594360" y="1014984"/>
            <a:ext cx="10789920" cy="384048"/>
          </a:xfrm>
          <a:prstGeom prst="rect">
            <a:avLst/>
          </a:prstGeom>
          <a:noFill/>
        </p:spPr>
        <p:txBody>
          <a:bodyPr wrap="square" lIns="27432" tIns="27432" rIns="27432" bIns="27432" anchor="t">
            <a:spAutoFit/>
          </a:bodyPr>
          <a:lstStyle/>
          <a:p>
            <a:pPr algn="l"/>
            <a:r>
              <a:rPr sz="1150" b="0">
                <a:solidFill>
                  <a:srgbClr val="5D6F80"/>
                </a:solidFill>
                <a:latin typeface="Aptos"/>
              </a:rPr>
              <a:t>The workflow protects privacy, removes scrape artifacts, and creates stable user–item interactions.</a:t>
            </a:r>
          </a:p>
        </p:txBody>
      </p:sp>
      <p:sp>
        <p:nvSpPr>
          <p:cNvPr id="6" name="Oval 5"/>
          <p:cNvSpPr/>
          <p:nvPr/>
        </p:nvSpPr>
        <p:spPr>
          <a:xfrm>
            <a:off x="11201400" y="274320"/>
            <a:ext cx="411480" cy="411480"/>
          </a:xfrm>
          <a:prstGeom prst="ellipse">
            <a:avLst/>
          </a:prstGeom>
          <a:solidFill>
            <a:srgbClr val="0B1F33"/>
          </a:solidFill>
          <a:ln>
            <a:solidFill>
              <a:srgbClr val="0B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201400" y="274320"/>
            <a:ext cx="411480" cy="411480"/>
          </a:xfrm>
          <a:prstGeom prst="rect">
            <a:avLst/>
          </a:prstGeom>
          <a:noFill/>
        </p:spPr>
        <p:txBody>
          <a:bodyPr wrap="square" lIns="27432" tIns="27432" rIns="27432" bIns="27432" anchor="ctr">
            <a:spAutoFit/>
          </a:bodyPr>
          <a:lstStyle/>
          <a:p>
            <a:pPr algn="ctr"/>
            <a:r>
              <a:rPr sz="1100" b="1">
                <a:solidFill>
                  <a:srgbClr val="FFFFFF"/>
                </a:solidFill>
                <a:latin typeface="Aptos"/>
              </a:rPr>
              <a:t>4</a:t>
            </a:r>
          </a:p>
        </p:txBody>
      </p:sp>
      <p:sp>
        <p:nvSpPr>
          <p:cNvPr id="8" name="Rounded Rectangle 7"/>
          <p:cNvSpPr/>
          <p:nvPr/>
        </p:nvSpPr>
        <p:spPr>
          <a:xfrm>
            <a:off x="566928" y="1600200"/>
            <a:ext cx="1993392" cy="1572768"/>
          </a:xfrm>
          <a:prstGeom prst="roundRect">
            <a:avLst/>
          </a:prstGeom>
          <a:solidFill>
            <a:srgbClr val="FFFFFF"/>
          </a:solidFill>
          <a:ln w="12700">
            <a:solidFill>
              <a:srgbClr val="D3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66928" y="1600200"/>
            <a:ext cx="1993392" cy="109728"/>
          </a:xfrm>
          <a:prstGeom prst="rect">
            <a:avLst/>
          </a:prstGeom>
          <a:solidFill>
            <a:srgbClr val="16B3A3"/>
          </a:solidFill>
          <a:ln w="12700">
            <a:solidFill>
              <a:srgbClr val="16B3A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4088" y="1801368"/>
            <a:ext cx="310896" cy="310896"/>
          </a:xfrm>
          <a:prstGeom prst="rect">
            <a:avLst/>
          </a:prstGeom>
          <a:noFill/>
        </p:spPr>
        <p:txBody>
          <a:bodyPr wrap="square" lIns="27432" tIns="27432" rIns="27432" bIns="27432" anchor="t">
            <a:spAutoFit/>
          </a:bodyPr>
          <a:lstStyle/>
          <a:p>
            <a:pPr algn="ctr"/>
            <a:r>
              <a:rPr sz="1500" b="1">
                <a:solidFill>
                  <a:srgbClr val="16B3A3"/>
                </a:solidFill>
                <a:latin typeface="Aptos"/>
              </a:rPr>
              <a:t>1</a:t>
            </a:r>
          </a:p>
        </p:txBody>
      </p:sp>
      <p:sp>
        <p:nvSpPr>
          <p:cNvPr id="11" name="TextBox 10"/>
          <p:cNvSpPr txBox="1"/>
          <p:nvPr/>
        </p:nvSpPr>
        <p:spPr>
          <a:xfrm>
            <a:off x="1088136" y="1783080"/>
            <a:ext cx="1261872" cy="310896"/>
          </a:xfrm>
          <a:prstGeom prst="rect">
            <a:avLst/>
          </a:prstGeom>
          <a:noFill/>
        </p:spPr>
        <p:txBody>
          <a:bodyPr wrap="square" lIns="27432" tIns="27432" rIns="27432" bIns="27432" anchor="t">
            <a:spAutoFit/>
          </a:bodyPr>
          <a:lstStyle/>
          <a:p>
            <a:pPr algn="l"/>
            <a:r>
              <a:rPr sz="1400" b="1">
                <a:solidFill>
                  <a:srgbClr val="0B1F33"/>
                </a:solidFill>
                <a:latin typeface="Aptos"/>
              </a:rPr>
              <a:t>Combine</a:t>
            </a:r>
          </a:p>
        </p:txBody>
      </p:sp>
      <p:sp>
        <p:nvSpPr>
          <p:cNvPr id="12" name="TextBox 11"/>
          <p:cNvSpPr txBox="1"/>
          <p:nvPr/>
        </p:nvSpPr>
        <p:spPr>
          <a:xfrm>
            <a:off x="731520" y="2313432"/>
            <a:ext cx="1664208" cy="530352"/>
          </a:xfrm>
          <a:prstGeom prst="rect">
            <a:avLst/>
          </a:prstGeom>
          <a:noFill/>
        </p:spPr>
        <p:txBody>
          <a:bodyPr wrap="square" lIns="27432" tIns="27432" rIns="27432" bIns="27432" anchor="t">
            <a:spAutoFit/>
          </a:bodyPr>
          <a:lstStyle/>
          <a:p>
            <a:pPr algn="ctr"/>
            <a:r>
              <a:rPr sz="1000" b="0">
                <a:solidFill>
                  <a:srgbClr val="5D6F80"/>
                </a:solidFill>
                <a:latin typeface="Aptos"/>
              </a:rPr>
              <a:t>50 manufacturer CSV files</a:t>
            </a:r>
          </a:p>
        </p:txBody>
      </p:sp>
      <p:cxnSp>
        <p:nvCxnSpPr>
          <p:cNvPr id="13" name="Connector 12"/>
          <p:cNvCxnSpPr/>
          <p:nvPr/>
        </p:nvCxnSpPr>
        <p:spPr>
          <a:xfrm>
            <a:off x="2578608" y="2377440"/>
            <a:ext cx="237744" cy="0"/>
          </a:xfrm>
          <a:prstGeom prst="line">
            <a:avLst/>
          </a:prstGeom>
          <a:ln w="16510">
            <a:solidFill>
              <a:srgbClr val="5D6F80"/>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871216" y="1600200"/>
            <a:ext cx="1993392" cy="1572768"/>
          </a:xfrm>
          <a:prstGeom prst="roundRect">
            <a:avLst/>
          </a:prstGeom>
          <a:solidFill>
            <a:srgbClr val="FFFFFF"/>
          </a:solidFill>
          <a:ln w="12700">
            <a:solidFill>
              <a:srgbClr val="D3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871216" y="1600200"/>
            <a:ext cx="1993392" cy="109728"/>
          </a:xfrm>
          <a:prstGeom prst="rect">
            <a:avLst/>
          </a:prstGeom>
          <a:solidFill>
            <a:srgbClr val="2F6FAE"/>
          </a:solidFill>
          <a:ln w="12700">
            <a:solidFill>
              <a:srgbClr val="2F6FA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008376" y="1801368"/>
            <a:ext cx="310896" cy="310896"/>
          </a:xfrm>
          <a:prstGeom prst="rect">
            <a:avLst/>
          </a:prstGeom>
          <a:noFill/>
        </p:spPr>
        <p:txBody>
          <a:bodyPr wrap="square" lIns="27432" tIns="27432" rIns="27432" bIns="27432" anchor="t">
            <a:spAutoFit/>
          </a:bodyPr>
          <a:lstStyle/>
          <a:p>
            <a:pPr algn="ctr"/>
            <a:r>
              <a:rPr sz="1500" b="1">
                <a:solidFill>
                  <a:srgbClr val="2F6FAE"/>
                </a:solidFill>
                <a:latin typeface="Aptos"/>
              </a:rPr>
              <a:t>2</a:t>
            </a:r>
          </a:p>
        </p:txBody>
      </p:sp>
      <p:sp>
        <p:nvSpPr>
          <p:cNvPr id="17" name="TextBox 16"/>
          <p:cNvSpPr txBox="1"/>
          <p:nvPr/>
        </p:nvSpPr>
        <p:spPr>
          <a:xfrm>
            <a:off x="3392424" y="1783080"/>
            <a:ext cx="1261872" cy="310896"/>
          </a:xfrm>
          <a:prstGeom prst="rect">
            <a:avLst/>
          </a:prstGeom>
          <a:noFill/>
        </p:spPr>
        <p:txBody>
          <a:bodyPr wrap="square" lIns="27432" tIns="27432" rIns="27432" bIns="27432" anchor="t">
            <a:spAutoFit/>
          </a:bodyPr>
          <a:lstStyle/>
          <a:p>
            <a:pPr algn="l"/>
            <a:r>
              <a:rPr sz="1400" b="1">
                <a:solidFill>
                  <a:srgbClr val="0B1F33"/>
                </a:solidFill>
                <a:latin typeface="Aptos"/>
              </a:rPr>
              <a:t>Validate</a:t>
            </a:r>
          </a:p>
        </p:txBody>
      </p:sp>
      <p:sp>
        <p:nvSpPr>
          <p:cNvPr id="18" name="TextBox 17"/>
          <p:cNvSpPr txBox="1"/>
          <p:nvPr/>
        </p:nvSpPr>
        <p:spPr>
          <a:xfrm>
            <a:off x="3035808" y="2313432"/>
            <a:ext cx="1664208" cy="530352"/>
          </a:xfrm>
          <a:prstGeom prst="rect">
            <a:avLst/>
          </a:prstGeom>
          <a:noFill/>
        </p:spPr>
        <p:txBody>
          <a:bodyPr wrap="square" lIns="27432" tIns="27432" rIns="27432" bIns="27432" anchor="t">
            <a:spAutoFit/>
          </a:bodyPr>
          <a:lstStyle/>
          <a:p>
            <a:pPr algn="ctr"/>
            <a:r>
              <a:rPr sz="1000" b="0">
                <a:solidFill>
                  <a:srgbClr val="5D6F80"/>
                </a:solidFill>
                <a:latin typeface="Aptos"/>
              </a:rPr>
              <a:t>Ratings constrained to 1–5</a:t>
            </a:r>
          </a:p>
        </p:txBody>
      </p:sp>
      <p:cxnSp>
        <p:nvCxnSpPr>
          <p:cNvPr id="19" name="Connector 18"/>
          <p:cNvCxnSpPr/>
          <p:nvPr/>
        </p:nvCxnSpPr>
        <p:spPr>
          <a:xfrm>
            <a:off x="4882896" y="2377440"/>
            <a:ext cx="237744" cy="0"/>
          </a:xfrm>
          <a:prstGeom prst="line">
            <a:avLst/>
          </a:prstGeom>
          <a:ln w="16510">
            <a:solidFill>
              <a:srgbClr val="5D6F80"/>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175504" y="1600200"/>
            <a:ext cx="1993392" cy="1572768"/>
          </a:xfrm>
          <a:prstGeom prst="roundRect">
            <a:avLst/>
          </a:prstGeom>
          <a:solidFill>
            <a:srgbClr val="FFFFFF"/>
          </a:solidFill>
          <a:ln w="12700">
            <a:solidFill>
              <a:srgbClr val="D3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175504" y="1600200"/>
            <a:ext cx="1993392" cy="109728"/>
          </a:xfrm>
          <a:prstGeom prst="rect">
            <a:avLst/>
          </a:prstGeom>
          <a:solidFill>
            <a:srgbClr val="F59E0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312664" y="1801368"/>
            <a:ext cx="310896" cy="310896"/>
          </a:xfrm>
          <a:prstGeom prst="rect">
            <a:avLst/>
          </a:prstGeom>
          <a:noFill/>
        </p:spPr>
        <p:txBody>
          <a:bodyPr wrap="square" lIns="27432" tIns="27432" rIns="27432" bIns="27432" anchor="t">
            <a:spAutoFit/>
          </a:bodyPr>
          <a:lstStyle/>
          <a:p>
            <a:pPr algn="ctr"/>
            <a:r>
              <a:rPr sz="1500" b="1">
                <a:solidFill>
                  <a:srgbClr val="F59E0B"/>
                </a:solidFill>
                <a:latin typeface="Aptos"/>
              </a:rPr>
              <a:t>3</a:t>
            </a:r>
          </a:p>
        </p:txBody>
      </p:sp>
      <p:sp>
        <p:nvSpPr>
          <p:cNvPr id="23" name="TextBox 22"/>
          <p:cNvSpPr txBox="1"/>
          <p:nvPr/>
        </p:nvSpPr>
        <p:spPr>
          <a:xfrm>
            <a:off x="5696712" y="1783080"/>
            <a:ext cx="1261872" cy="310896"/>
          </a:xfrm>
          <a:prstGeom prst="rect">
            <a:avLst/>
          </a:prstGeom>
          <a:noFill/>
        </p:spPr>
        <p:txBody>
          <a:bodyPr wrap="square" lIns="27432" tIns="27432" rIns="27432" bIns="27432" anchor="t">
            <a:spAutoFit/>
          </a:bodyPr>
          <a:lstStyle/>
          <a:p>
            <a:pPr algn="l"/>
            <a:r>
              <a:rPr sz="1400" b="1">
                <a:solidFill>
                  <a:srgbClr val="0B1F33"/>
                </a:solidFill>
                <a:latin typeface="Aptos"/>
              </a:rPr>
              <a:t>Normalize</a:t>
            </a:r>
          </a:p>
        </p:txBody>
      </p:sp>
      <p:sp>
        <p:nvSpPr>
          <p:cNvPr id="24" name="TextBox 23"/>
          <p:cNvSpPr txBox="1"/>
          <p:nvPr/>
        </p:nvSpPr>
        <p:spPr>
          <a:xfrm>
            <a:off x="5340096" y="2313432"/>
            <a:ext cx="1664208" cy="530352"/>
          </a:xfrm>
          <a:prstGeom prst="rect">
            <a:avLst/>
          </a:prstGeom>
          <a:noFill/>
        </p:spPr>
        <p:txBody>
          <a:bodyPr wrap="square" lIns="27432" tIns="27432" rIns="27432" bIns="27432" anchor="t">
            <a:spAutoFit/>
          </a:bodyPr>
          <a:lstStyle/>
          <a:p>
            <a:pPr algn="ctr"/>
            <a:r>
              <a:rPr sz="1000" b="0">
                <a:solidFill>
                  <a:srgbClr val="5D6F80"/>
                </a:solidFill>
                <a:latin typeface="Aptos"/>
              </a:rPr>
              <a:t>Text, dates, makes, model years</a:t>
            </a:r>
          </a:p>
        </p:txBody>
      </p:sp>
      <p:cxnSp>
        <p:nvCxnSpPr>
          <p:cNvPr id="25" name="Connector 24"/>
          <p:cNvCxnSpPr/>
          <p:nvPr/>
        </p:nvCxnSpPr>
        <p:spPr>
          <a:xfrm>
            <a:off x="7187184" y="2377440"/>
            <a:ext cx="237744" cy="0"/>
          </a:xfrm>
          <a:prstGeom prst="line">
            <a:avLst/>
          </a:prstGeom>
          <a:ln w="16510">
            <a:solidFill>
              <a:srgbClr val="5D6F80"/>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479792" y="1600200"/>
            <a:ext cx="1993392" cy="1572768"/>
          </a:xfrm>
          <a:prstGeom prst="roundRect">
            <a:avLst/>
          </a:prstGeom>
          <a:solidFill>
            <a:srgbClr val="FFFFFF"/>
          </a:solidFill>
          <a:ln w="12700">
            <a:solidFill>
              <a:srgbClr val="D3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7479792" y="1600200"/>
            <a:ext cx="1993392" cy="109728"/>
          </a:xfrm>
          <a:prstGeom prst="rect">
            <a:avLst/>
          </a:prstGeom>
          <a:solidFill>
            <a:srgbClr val="DC4242"/>
          </a:solidFill>
          <a:ln w="12700">
            <a:solidFill>
              <a:srgbClr val="DC42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616952" y="1801368"/>
            <a:ext cx="310896" cy="310896"/>
          </a:xfrm>
          <a:prstGeom prst="rect">
            <a:avLst/>
          </a:prstGeom>
          <a:noFill/>
        </p:spPr>
        <p:txBody>
          <a:bodyPr wrap="square" lIns="27432" tIns="27432" rIns="27432" bIns="27432" anchor="t">
            <a:spAutoFit/>
          </a:bodyPr>
          <a:lstStyle/>
          <a:p>
            <a:pPr algn="ctr"/>
            <a:r>
              <a:rPr sz="1500" b="1">
                <a:solidFill>
                  <a:srgbClr val="DC4242"/>
                </a:solidFill>
                <a:latin typeface="Aptos"/>
              </a:rPr>
              <a:t>4</a:t>
            </a:r>
          </a:p>
        </p:txBody>
      </p:sp>
      <p:sp>
        <p:nvSpPr>
          <p:cNvPr id="29" name="TextBox 28"/>
          <p:cNvSpPr txBox="1"/>
          <p:nvPr/>
        </p:nvSpPr>
        <p:spPr>
          <a:xfrm>
            <a:off x="8001000" y="1783080"/>
            <a:ext cx="1261872" cy="310896"/>
          </a:xfrm>
          <a:prstGeom prst="rect">
            <a:avLst/>
          </a:prstGeom>
          <a:noFill/>
        </p:spPr>
        <p:txBody>
          <a:bodyPr wrap="square" lIns="27432" tIns="27432" rIns="27432" bIns="27432" anchor="t">
            <a:spAutoFit/>
          </a:bodyPr>
          <a:lstStyle/>
          <a:p>
            <a:pPr algn="l"/>
            <a:r>
              <a:rPr sz="1400" b="1">
                <a:solidFill>
                  <a:srgbClr val="0B1F33"/>
                </a:solidFill>
                <a:latin typeface="Aptos"/>
              </a:rPr>
              <a:t>De-duplicate</a:t>
            </a:r>
          </a:p>
        </p:txBody>
      </p:sp>
      <p:sp>
        <p:nvSpPr>
          <p:cNvPr id="30" name="TextBox 29"/>
          <p:cNvSpPr txBox="1"/>
          <p:nvPr/>
        </p:nvSpPr>
        <p:spPr>
          <a:xfrm>
            <a:off x="7644383" y="2313432"/>
            <a:ext cx="1664208" cy="530352"/>
          </a:xfrm>
          <a:prstGeom prst="rect">
            <a:avLst/>
          </a:prstGeom>
          <a:noFill/>
        </p:spPr>
        <p:txBody>
          <a:bodyPr wrap="square" lIns="27432" tIns="27432" rIns="27432" bIns="27432" anchor="t">
            <a:spAutoFit/>
          </a:bodyPr>
          <a:lstStyle/>
          <a:p>
            <a:pPr algn="ctr"/>
            <a:r>
              <a:rPr sz="1000" b="0">
                <a:solidFill>
                  <a:srgbClr val="5D6F80"/>
                </a:solidFill>
                <a:latin typeface="Aptos"/>
              </a:rPr>
              <a:t>Repeated scraped reviews removed</a:t>
            </a:r>
          </a:p>
        </p:txBody>
      </p:sp>
      <p:cxnSp>
        <p:nvCxnSpPr>
          <p:cNvPr id="31" name="Connector 30"/>
          <p:cNvCxnSpPr/>
          <p:nvPr/>
        </p:nvCxnSpPr>
        <p:spPr>
          <a:xfrm>
            <a:off x="9491472" y="2377440"/>
            <a:ext cx="237744" cy="0"/>
          </a:xfrm>
          <a:prstGeom prst="line">
            <a:avLst/>
          </a:prstGeom>
          <a:ln w="16510">
            <a:solidFill>
              <a:srgbClr val="5D6F80"/>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9784080" y="1600200"/>
            <a:ext cx="1993392" cy="1572768"/>
          </a:xfrm>
          <a:prstGeom prst="roundRect">
            <a:avLst/>
          </a:prstGeom>
          <a:solidFill>
            <a:srgbClr val="FFFFFF"/>
          </a:solidFill>
          <a:ln w="12700">
            <a:solidFill>
              <a:srgbClr val="D3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9784080" y="1600200"/>
            <a:ext cx="1993392" cy="109728"/>
          </a:xfrm>
          <a:prstGeom prst="rect">
            <a:avLst/>
          </a:prstGeom>
          <a:solidFill>
            <a:srgbClr val="0C7D76"/>
          </a:solidFill>
          <a:ln w="12700">
            <a:solidFill>
              <a:srgbClr val="0C7D7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921240" y="1801368"/>
            <a:ext cx="310896" cy="310896"/>
          </a:xfrm>
          <a:prstGeom prst="rect">
            <a:avLst/>
          </a:prstGeom>
          <a:noFill/>
        </p:spPr>
        <p:txBody>
          <a:bodyPr wrap="square" lIns="27432" tIns="27432" rIns="27432" bIns="27432" anchor="t">
            <a:spAutoFit/>
          </a:bodyPr>
          <a:lstStyle/>
          <a:p>
            <a:pPr algn="ctr"/>
            <a:r>
              <a:rPr sz="1500" b="1">
                <a:solidFill>
                  <a:srgbClr val="0C7D76"/>
                </a:solidFill>
                <a:latin typeface="Aptos"/>
              </a:rPr>
              <a:t>5</a:t>
            </a:r>
          </a:p>
        </p:txBody>
      </p:sp>
      <p:sp>
        <p:nvSpPr>
          <p:cNvPr id="35" name="TextBox 34"/>
          <p:cNvSpPr txBox="1"/>
          <p:nvPr/>
        </p:nvSpPr>
        <p:spPr>
          <a:xfrm>
            <a:off x="10305288" y="1783080"/>
            <a:ext cx="1261872" cy="310896"/>
          </a:xfrm>
          <a:prstGeom prst="rect">
            <a:avLst/>
          </a:prstGeom>
          <a:noFill/>
        </p:spPr>
        <p:txBody>
          <a:bodyPr wrap="square" lIns="27432" tIns="27432" rIns="27432" bIns="27432" anchor="t">
            <a:spAutoFit/>
          </a:bodyPr>
          <a:lstStyle/>
          <a:p>
            <a:pPr algn="l"/>
            <a:r>
              <a:rPr sz="1400" b="1">
                <a:solidFill>
                  <a:srgbClr val="0B1F33"/>
                </a:solidFill>
                <a:latin typeface="Aptos"/>
              </a:rPr>
              <a:t>Anonymize</a:t>
            </a:r>
          </a:p>
        </p:txBody>
      </p:sp>
      <p:sp>
        <p:nvSpPr>
          <p:cNvPr id="36" name="TextBox 35"/>
          <p:cNvSpPr txBox="1"/>
          <p:nvPr/>
        </p:nvSpPr>
        <p:spPr>
          <a:xfrm>
            <a:off x="9948672" y="2313432"/>
            <a:ext cx="1664208" cy="530352"/>
          </a:xfrm>
          <a:prstGeom prst="rect">
            <a:avLst/>
          </a:prstGeom>
          <a:noFill/>
        </p:spPr>
        <p:txBody>
          <a:bodyPr wrap="square" lIns="27432" tIns="27432" rIns="27432" bIns="27432" anchor="t">
            <a:spAutoFit/>
          </a:bodyPr>
          <a:lstStyle/>
          <a:p>
            <a:pPr algn="ctr"/>
            <a:r>
              <a:rPr sz="1000" b="0">
                <a:solidFill>
                  <a:srgbClr val="5D6F80"/>
                </a:solidFill>
                <a:latin typeface="Aptos"/>
              </a:rPr>
              <a:t>Authors mapped to stable user IDs</a:t>
            </a:r>
          </a:p>
        </p:txBody>
      </p:sp>
      <p:sp>
        <p:nvSpPr>
          <p:cNvPr id="37" name="Rounded Rectangle 36"/>
          <p:cNvSpPr/>
          <p:nvPr/>
        </p:nvSpPr>
        <p:spPr>
          <a:xfrm>
            <a:off x="658368" y="3822191"/>
            <a:ext cx="2468880" cy="1234440"/>
          </a:xfrm>
          <a:prstGeom prst="roundRect">
            <a:avLst/>
          </a:prstGeom>
          <a:solidFill>
            <a:srgbClr val="FFFFFF"/>
          </a:solidFill>
          <a:ln w="12700">
            <a:solidFill>
              <a:srgbClr val="D3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658368" y="3822191"/>
            <a:ext cx="73152" cy="1234440"/>
          </a:xfrm>
          <a:prstGeom prst="rect">
            <a:avLst/>
          </a:prstGeom>
          <a:solidFill>
            <a:srgbClr val="16B3A3"/>
          </a:solidFill>
          <a:ln w="12700">
            <a:solidFill>
              <a:srgbClr val="16B3A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86968" y="3959352"/>
            <a:ext cx="2148840" cy="411480"/>
          </a:xfrm>
          <a:prstGeom prst="rect">
            <a:avLst/>
          </a:prstGeom>
          <a:noFill/>
        </p:spPr>
        <p:txBody>
          <a:bodyPr wrap="square" lIns="27432" tIns="27432" rIns="27432" bIns="27432" anchor="t">
            <a:spAutoFit/>
          </a:bodyPr>
          <a:lstStyle/>
          <a:p>
            <a:pPr algn="l"/>
            <a:r>
              <a:rPr sz="2300" b="1">
                <a:solidFill>
                  <a:srgbClr val="0B1F33"/>
                </a:solidFill>
                <a:latin typeface="Aptos Display"/>
              </a:rPr>
              <a:t>224,444</a:t>
            </a:r>
          </a:p>
        </p:txBody>
      </p:sp>
      <p:sp>
        <p:nvSpPr>
          <p:cNvPr id="40" name="TextBox 39"/>
          <p:cNvSpPr txBox="1"/>
          <p:nvPr/>
        </p:nvSpPr>
        <p:spPr>
          <a:xfrm>
            <a:off x="886968" y="4389120"/>
            <a:ext cx="2148840" cy="320040"/>
          </a:xfrm>
          <a:prstGeom prst="rect">
            <a:avLst/>
          </a:prstGeom>
          <a:noFill/>
        </p:spPr>
        <p:txBody>
          <a:bodyPr wrap="square" lIns="27432" tIns="27432" rIns="27432" bIns="27432" anchor="t">
            <a:spAutoFit/>
          </a:bodyPr>
          <a:lstStyle/>
          <a:p>
            <a:pPr algn="l"/>
            <a:r>
              <a:rPr sz="1050" b="1">
                <a:solidFill>
                  <a:srgbClr val="5D6F80"/>
                </a:solidFill>
                <a:latin typeface="Aptos"/>
              </a:rPr>
              <a:t>CLEAN REVIEWS</a:t>
            </a:r>
          </a:p>
        </p:txBody>
      </p:sp>
      <p:sp>
        <p:nvSpPr>
          <p:cNvPr id="41" name="TextBox 40"/>
          <p:cNvSpPr txBox="1"/>
          <p:nvPr/>
        </p:nvSpPr>
        <p:spPr>
          <a:xfrm>
            <a:off x="886968" y="4718304"/>
            <a:ext cx="2148840" cy="228600"/>
          </a:xfrm>
          <a:prstGeom prst="rect">
            <a:avLst/>
          </a:prstGeom>
          <a:noFill/>
        </p:spPr>
        <p:txBody>
          <a:bodyPr wrap="square" lIns="27432" tIns="27432" rIns="27432" bIns="27432" anchor="t">
            <a:spAutoFit/>
          </a:bodyPr>
          <a:lstStyle/>
          <a:p>
            <a:pPr algn="l"/>
            <a:r>
              <a:rPr sz="850" b="0">
                <a:solidFill>
                  <a:srgbClr val="5D6F80"/>
                </a:solidFill>
                <a:latin typeface="Aptos"/>
              </a:rPr>
              <a:t>2,487 rows removed</a:t>
            </a:r>
          </a:p>
        </p:txBody>
      </p:sp>
      <p:sp>
        <p:nvSpPr>
          <p:cNvPr id="42" name="Rounded Rectangle 41"/>
          <p:cNvSpPr/>
          <p:nvPr/>
        </p:nvSpPr>
        <p:spPr>
          <a:xfrm>
            <a:off x="3364992" y="3822191"/>
            <a:ext cx="2468880" cy="1234440"/>
          </a:xfrm>
          <a:prstGeom prst="roundRect">
            <a:avLst/>
          </a:prstGeom>
          <a:solidFill>
            <a:srgbClr val="FFFFFF"/>
          </a:solidFill>
          <a:ln w="12700">
            <a:solidFill>
              <a:srgbClr val="D3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3364992" y="3822191"/>
            <a:ext cx="73152" cy="1234440"/>
          </a:xfrm>
          <a:prstGeom prst="rect">
            <a:avLst/>
          </a:prstGeom>
          <a:solidFill>
            <a:srgbClr val="2F6FAE"/>
          </a:solidFill>
          <a:ln w="12700">
            <a:solidFill>
              <a:srgbClr val="2F6FA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593592" y="3959352"/>
            <a:ext cx="2148840" cy="411480"/>
          </a:xfrm>
          <a:prstGeom prst="rect">
            <a:avLst/>
          </a:prstGeom>
          <a:noFill/>
        </p:spPr>
        <p:txBody>
          <a:bodyPr wrap="square" lIns="27432" tIns="27432" rIns="27432" bIns="27432" anchor="t">
            <a:spAutoFit/>
          </a:bodyPr>
          <a:lstStyle/>
          <a:p>
            <a:pPr algn="l"/>
            <a:r>
              <a:rPr sz="2300" b="1">
                <a:solidFill>
                  <a:srgbClr val="0B1F33"/>
                </a:solidFill>
                <a:latin typeface="Aptos Display"/>
              </a:rPr>
              <a:t>155,074</a:t>
            </a:r>
          </a:p>
        </p:txBody>
      </p:sp>
      <p:sp>
        <p:nvSpPr>
          <p:cNvPr id="45" name="TextBox 44"/>
          <p:cNvSpPr txBox="1"/>
          <p:nvPr/>
        </p:nvSpPr>
        <p:spPr>
          <a:xfrm>
            <a:off x="3593592" y="4389120"/>
            <a:ext cx="2148840" cy="320040"/>
          </a:xfrm>
          <a:prstGeom prst="rect">
            <a:avLst/>
          </a:prstGeom>
          <a:noFill/>
        </p:spPr>
        <p:txBody>
          <a:bodyPr wrap="square" lIns="27432" tIns="27432" rIns="27432" bIns="27432" anchor="t">
            <a:spAutoFit/>
          </a:bodyPr>
          <a:lstStyle/>
          <a:p>
            <a:pPr algn="l"/>
            <a:r>
              <a:rPr sz="1050" b="1">
                <a:solidFill>
                  <a:srgbClr val="5D6F80"/>
                </a:solidFill>
                <a:latin typeface="Aptos"/>
              </a:rPr>
              <a:t>ANONYMOUS USERS</a:t>
            </a:r>
          </a:p>
        </p:txBody>
      </p:sp>
      <p:sp>
        <p:nvSpPr>
          <p:cNvPr id="46" name="Rounded Rectangle 45"/>
          <p:cNvSpPr/>
          <p:nvPr/>
        </p:nvSpPr>
        <p:spPr>
          <a:xfrm>
            <a:off x="6071616" y="3822191"/>
            <a:ext cx="2468880" cy="1234440"/>
          </a:xfrm>
          <a:prstGeom prst="roundRect">
            <a:avLst/>
          </a:prstGeom>
          <a:solidFill>
            <a:srgbClr val="FFFFFF"/>
          </a:solidFill>
          <a:ln w="12700">
            <a:solidFill>
              <a:srgbClr val="D3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6071616" y="3822191"/>
            <a:ext cx="73152" cy="1234440"/>
          </a:xfrm>
          <a:prstGeom prst="rect">
            <a:avLst/>
          </a:prstGeom>
          <a:solidFill>
            <a:srgbClr val="F59E0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300216" y="3959352"/>
            <a:ext cx="2148840" cy="411480"/>
          </a:xfrm>
          <a:prstGeom prst="rect">
            <a:avLst/>
          </a:prstGeom>
          <a:noFill/>
        </p:spPr>
        <p:txBody>
          <a:bodyPr wrap="square" lIns="27432" tIns="27432" rIns="27432" bIns="27432" anchor="t">
            <a:spAutoFit/>
          </a:bodyPr>
          <a:lstStyle/>
          <a:p>
            <a:pPr algn="l"/>
            <a:r>
              <a:rPr sz="2300" b="1">
                <a:solidFill>
                  <a:srgbClr val="0B1F33"/>
                </a:solidFill>
                <a:latin typeface="Aptos Display"/>
              </a:rPr>
              <a:t>29,039</a:t>
            </a:r>
          </a:p>
        </p:txBody>
      </p:sp>
      <p:sp>
        <p:nvSpPr>
          <p:cNvPr id="49" name="TextBox 48"/>
          <p:cNvSpPr txBox="1"/>
          <p:nvPr/>
        </p:nvSpPr>
        <p:spPr>
          <a:xfrm>
            <a:off x="6300216" y="4389120"/>
            <a:ext cx="2148840" cy="320040"/>
          </a:xfrm>
          <a:prstGeom prst="rect">
            <a:avLst/>
          </a:prstGeom>
          <a:noFill/>
        </p:spPr>
        <p:txBody>
          <a:bodyPr wrap="square" lIns="27432" tIns="27432" rIns="27432" bIns="27432" anchor="t">
            <a:spAutoFit/>
          </a:bodyPr>
          <a:lstStyle/>
          <a:p>
            <a:pPr algn="l"/>
            <a:r>
              <a:rPr sz="1050" b="1">
                <a:solidFill>
                  <a:srgbClr val="5D6F80"/>
                </a:solidFill>
                <a:latin typeface="Aptos"/>
              </a:rPr>
              <a:t>CLEAN VEHICLES</a:t>
            </a:r>
          </a:p>
        </p:txBody>
      </p:sp>
      <p:sp>
        <p:nvSpPr>
          <p:cNvPr id="50" name="Rounded Rectangle 49"/>
          <p:cNvSpPr/>
          <p:nvPr/>
        </p:nvSpPr>
        <p:spPr>
          <a:xfrm>
            <a:off x="8778240" y="3822191"/>
            <a:ext cx="2468880" cy="1234440"/>
          </a:xfrm>
          <a:prstGeom prst="roundRect">
            <a:avLst/>
          </a:prstGeom>
          <a:solidFill>
            <a:srgbClr val="FFFFFF"/>
          </a:solidFill>
          <a:ln w="12700">
            <a:solidFill>
              <a:srgbClr val="D3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8778240" y="3822191"/>
            <a:ext cx="73152" cy="1234440"/>
          </a:xfrm>
          <a:prstGeom prst="rect">
            <a:avLst/>
          </a:prstGeom>
          <a:solidFill>
            <a:srgbClr val="DC4242"/>
          </a:solidFill>
          <a:ln w="12700">
            <a:solidFill>
              <a:srgbClr val="DC42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9006840" y="3959352"/>
            <a:ext cx="2148840" cy="411480"/>
          </a:xfrm>
          <a:prstGeom prst="rect">
            <a:avLst/>
          </a:prstGeom>
          <a:noFill/>
        </p:spPr>
        <p:txBody>
          <a:bodyPr wrap="square" lIns="27432" tIns="27432" rIns="27432" bIns="27432" anchor="t">
            <a:spAutoFit/>
          </a:bodyPr>
          <a:lstStyle/>
          <a:p>
            <a:pPr algn="l"/>
            <a:r>
              <a:rPr sz="2300" b="1">
                <a:solidFill>
                  <a:srgbClr val="0B1F33"/>
                </a:solidFill>
                <a:latin typeface="Aptos Display"/>
              </a:rPr>
              <a:t>15,797</a:t>
            </a:r>
          </a:p>
        </p:txBody>
      </p:sp>
      <p:sp>
        <p:nvSpPr>
          <p:cNvPr id="53" name="TextBox 52"/>
          <p:cNvSpPr txBox="1"/>
          <p:nvPr/>
        </p:nvSpPr>
        <p:spPr>
          <a:xfrm>
            <a:off x="9006840" y="4389120"/>
            <a:ext cx="2148840" cy="320040"/>
          </a:xfrm>
          <a:prstGeom prst="rect">
            <a:avLst/>
          </a:prstGeom>
          <a:noFill/>
        </p:spPr>
        <p:txBody>
          <a:bodyPr wrap="square" lIns="27432" tIns="27432" rIns="27432" bIns="27432" anchor="t">
            <a:spAutoFit/>
          </a:bodyPr>
          <a:lstStyle/>
          <a:p>
            <a:pPr algn="l"/>
            <a:r>
              <a:rPr sz="1050" b="1">
                <a:solidFill>
                  <a:srgbClr val="5D6F80"/>
                </a:solidFill>
                <a:latin typeface="Aptos"/>
              </a:rPr>
              <a:t>USERS WITH 2+ REVIEWS</a:t>
            </a:r>
          </a:p>
        </p:txBody>
      </p:sp>
      <p:sp>
        <p:nvSpPr>
          <p:cNvPr id="54" name="Rounded Rectangle 53"/>
          <p:cNvSpPr/>
          <p:nvPr/>
        </p:nvSpPr>
        <p:spPr>
          <a:xfrm>
            <a:off x="658368" y="5349240"/>
            <a:ext cx="10588752" cy="731520"/>
          </a:xfrm>
          <a:prstGeom prst="roundRect">
            <a:avLst/>
          </a:prstGeom>
          <a:solidFill>
            <a:srgbClr val="FFFFFF"/>
          </a:solidFill>
          <a:ln w="12700">
            <a:solidFill>
              <a:srgbClr val="D3DEE7"/>
            </a:solidFill>
          </a:ln>
        </p:spPr>
        <p:style>
          <a:lnRef idx="1">
            <a:schemeClr val="accent1"/>
          </a:lnRef>
          <a:fillRef idx="3">
            <a:schemeClr val="accent1"/>
          </a:fillRef>
          <a:effectRef idx="2">
            <a:schemeClr val="accent1"/>
          </a:effectRef>
          <a:fontRef idx="minor">
            <a:schemeClr val="lt1"/>
          </a:fontRef>
        </p:style>
        <p:txBody>
          <a:bodyPr wrap="square" lIns="201168" tIns="137160" rIns="164592" bIns="109728" rtlCol="0" anchor="ctr"/>
          <a:lstStyle/>
          <a:p>
            <a:pPr algn="ctr">
              <a:spcAft>
                <a:spcPts val="500"/>
              </a:spcAft>
            </a:pPr>
            <a:r>
              <a:rPr sz="1100" b="1">
                <a:solidFill>
                  <a:srgbClr val="0C7D76"/>
                </a:solidFill>
                <a:latin typeface="Aptos"/>
              </a:rPr>
              <a:t>Why it matters</a:t>
            </a:r>
          </a:p>
          <a:p>
            <a:pPr>
              <a:spcAft>
                <a:spcPts val="0"/>
              </a:spcAft>
            </a:pPr>
            <a:r>
              <a:rPr sz="1150" b="0">
                <a:solidFill>
                  <a:srgbClr val="22303E"/>
                </a:solidFill>
                <a:latin typeface="Aptos"/>
              </a:rPr>
              <a:t>Content text becomes comparable; duplicate ratings no longer overweight an item; raw reviewer names never appear in recommendations.</a:t>
            </a:r>
          </a:p>
        </p:txBody>
      </p:sp>
      <p:sp>
        <p:nvSpPr>
          <p:cNvPr id="55" name="Rectangle 54"/>
          <p:cNvSpPr/>
          <p:nvPr/>
        </p:nvSpPr>
        <p:spPr>
          <a:xfrm>
            <a:off x="0" y="6565392"/>
            <a:ext cx="12191695" cy="292608"/>
          </a:xfrm>
          <a:prstGeom prst="rect">
            <a:avLst/>
          </a:prstGeom>
          <a:solidFill>
            <a:srgbClr val="0B1F33"/>
          </a:solidFill>
          <a:ln>
            <a:solidFill>
              <a:srgbClr val="0B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530352" y="6611112"/>
            <a:ext cx="5029200" cy="155448"/>
          </a:xfrm>
          <a:prstGeom prst="rect">
            <a:avLst/>
          </a:prstGeom>
          <a:noFill/>
        </p:spPr>
        <p:txBody>
          <a:bodyPr wrap="square" lIns="27432" tIns="27432" rIns="27432" bIns="27432" anchor="t">
            <a:spAutoFit/>
          </a:bodyPr>
          <a:lstStyle/>
          <a:p>
            <a:pPr algn="l"/>
            <a:r>
              <a:rPr sz="850" b="0">
                <a:solidFill>
                  <a:srgbClr val="FFFFFF"/>
                </a:solidFill>
                <a:latin typeface="Aptos"/>
              </a:rPr>
              <a:t>DSC 201 • Project 1</a:t>
            </a:r>
          </a:p>
        </p:txBody>
      </p:sp>
      <p:sp>
        <p:nvSpPr>
          <p:cNvPr id="57" name="TextBox 56"/>
          <p:cNvSpPr txBox="1"/>
          <p:nvPr/>
        </p:nvSpPr>
        <p:spPr>
          <a:xfrm>
            <a:off x="11201400" y="6611112"/>
            <a:ext cx="411480" cy="155448"/>
          </a:xfrm>
          <a:prstGeom prst="rect">
            <a:avLst/>
          </a:prstGeom>
          <a:noFill/>
        </p:spPr>
        <p:txBody>
          <a:bodyPr wrap="square" lIns="27432" tIns="27432" rIns="27432" bIns="27432" anchor="t">
            <a:spAutoFit/>
          </a:bodyPr>
          <a:lstStyle/>
          <a:p>
            <a:pPr algn="r"/>
            <a:r>
              <a:rPr sz="850" b="1">
                <a:solidFill>
                  <a:srgbClr val="FFFFFF"/>
                </a:solidFill>
                <a:latin typeface="Aptos"/>
              </a:rP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74320"/>
            <a:ext cx="3657600" cy="256032"/>
          </a:xfrm>
          <a:prstGeom prst="rect">
            <a:avLst/>
          </a:prstGeom>
          <a:noFill/>
        </p:spPr>
        <p:txBody>
          <a:bodyPr wrap="square" lIns="27432" tIns="27432" rIns="27432" bIns="27432" anchor="t">
            <a:spAutoFit/>
          </a:bodyPr>
          <a:lstStyle/>
          <a:p>
            <a:pPr algn="l"/>
            <a:r>
              <a:rPr sz="1000" b="1">
                <a:solidFill>
                  <a:srgbClr val="0C7D76"/>
                </a:solidFill>
                <a:latin typeface="Aptos"/>
              </a:rPr>
              <a:t>SYSTEM DESIGN</a:t>
            </a:r>
          </a:p>
        </p:txBody>
      </p:sp>
      <p:sp>
        <p:nvSpPr>
          <p:cNvPr id="4" name="TextBox 3"/>
          <p:cNvSpPr txBox="1"/>
          <p:nvPr/>
        </p:nvSpPr>
        <p:spPr>
          <a:xfrm>
            <a:off x="566928" y="548640"/>
            <a:ext cx="10607040" cy="502920"/>
          </a:xfrm>
          <a:prstGeom prst="rect">
            <a:avLst/>
          </a:prstGeom>
          <a:noFill/>
        </p:spPr>
        <p:txBody>
          <a:bodyPr wrap="square" lIns="27432" tIns="27432" rIns="27432" bIns="27432" anchor="t">
            <a:spAutoFit/>
          </a:bodyPr>
          <a:lstStyle/>
          <a:p>
            <a:pPr algn="l"/>
            <a:r>
              <a:rPr sz="2600" b="1">
                <a:solidFill>
                  <a:srgbClr val="0B1F33"/>
                </a:solidFill>
                <a:latin typeface="Aptos Display"/>
              </a:rPr>
              <a:t>One cleaned dataset → three recommendation paths</a:t>
            </a:r>
          </a:p>
        </p:txBody>
      </p:sp>
      <p:sp>
        <p:nvSpPr>
          <p:cNvPr id="5" name="TextBox 4"/>
          <p:cNvSpPr txBox="1"/>
          <p:nvPr/>
        </p:nvSpPr>
        <p:spPr>
          <a:xfrm>
            <a:off x="594360" y="1014984"/>
            <a:ext cx="10789920" cy="384048"/>
          </a:xfrm>
          <a:prstGeom prst="rect">
            <a:avLst/>
          </a:prstGeom>
          <a:noFill/>
        </p:spPr>
        <p:txBody>
          <a:bodyPr wrap="square" lIns="27432" tIns="27432" rIns="27432" bIns="27432" anchor="t">
            <a:spAutoFit/>
          </a:bodyPr>
          <a:lstStyle/>
          <a:p>
            <a:pPr algn="l"/>
            <a:r>
              <a:rPr sz="1150" b="0">
                <a:solidFill>
                  <a:srgbClr val="5D6F80"/>
                </a:solidFill>
                <a:latin typeface="Aptos"/>
              </a:rPr>
              <a:t>Each model answers a different user need; the hybrid re-ranks content candidates with personalization.</a:t>
            </a:r>
          </a:p>
        </p:txBody>
      </p:sp>
      <p:sp>
        <p:nvSpPr>
          <p:cNvPr id="6" name="Oval 5"/>
          <p:cNvSpPr/>
          <p:nvPr/>
        </p:nvSpPr>
        <p:spPr>
          <a:xfrm>
            <a:off x="11201400" y="274320"/>
            <a:ext cx="411480" cy="411480"/>
          </a:xfrm>
          <a:prstGeom prst="ellipse">
            <a:avLst/>
          </a:prstGeom>
          <a:solidFill>
            <a:srgbClr val="0B1F33"/>
          </a:solidFill>
          <a:ln>
            <a:solidFill>
              <a:srgbClr val="0B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201400" y="274320"/>
            <a:ext cx="411480" cy="411480"/>
          </a:xfrm>
          <a:prstGeom prst="rect">
            <a:avLst/>
          </a:prstGeom>
          <a:noFill/>
        </p:spPr>
        <p:txBody>
          <a:bodyPr wrap="square" lIns="27432" tIns="27432" rIns="27432" bIns="27432" anchor="ctr">
            <a:spAutoFit/>
          </a:bodyPr>
          <a:lstStyle/>
          <a:p>
            <a:pPr algn="ctr"/>
            <a:r>
              <a:rPr sz="1100" b="1">
                <a:solidFill>
                  <a:srgbClr val="FFFFFF"/>
                </a:solidFill>
                <a:latin typeface="Aptos"/>
              </a:rPr>
              <a:t>5</a:t>
            </a:r>
          </a:p>
        </p:txBody>
      </p:sp>
      <p:sp>
        <p:nvSpPr>
          <p:cNvPr id="8" name="Rounded Rectangle 7"/>
          <p:cNvSpPr/>
          <p:nvPr/>
        </p:nvSpPr>
        <p:spPr>
          <a:xfrm>
            <a:off x="640080" y="2148840"/>
            <a:ext cx="1874519" cy="1170432"/>
          </a:xfrm>
          <a:prstGeom prst="roundRect">
            <a:avLst/>
          </a:prstGeom>
          <a:solidFill>
            <a:srgbClr val="0B1F33"/>
          </a:solidFill>
          <a:ln w="12700">
            <a:solidFill>
              <a:srgbClr val="0B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9808" y="2350008"/>
            <a:ext cx="1655063" cy="274320"/>
          </a:xfrm>
          <a:prstGeom prst="rect">
            <a:avLst/>
          </a:prstGeom>
          <a:noFill/>
        </p:spPr>
        <p:txBody>
          <a:bodyPr wrap="square" lIns="27432" tIns="27432" rIns="27432" bIns="27432" anchor="t">
            <a:spAutoFit/>
          </a:bodyPr>
          <a:lstStyle/>
          <a:p>
            <a:pPr algn="ctr"/>
            <a:r>
              <a:rPr sz="1400" b="1">
                <a:solidFill>
                  <a:srgbClr val="FFFFFF"/>
                </a:solidFill>
                <a:latin typeface="Aptos"/>
              </a:rPr>
              <a:t>CLEAN DATA</a:t>
            </a:r>
          </a:p>
        </p:txBody>
      </p:sp>
      <p:sp>
        <p:nvSpPr>
          <p:cNvPr id="10" name="TextBox 9"/>
          <p:cNvSpPr txBox="1"/>
          <p:nvPr/>
        </p:nvSpPr>
        <p:spPr>
          <a:xfrm>
            <a:off x="749808" y="2724912"/>
            <a:ext cx="1655063" cy="493776"/>
          </a:xfrm>
          <a:prstGeom prst="rect">
            <a:avLst/>
          </a:prstGeom>
          <a:noFill/>
        </p:spPr>
        <p:txBody>
          <a:bodyPr wrap="square" lIns="27432" tIns="27432" rIns="27432" bIns="27432" anchor="t">
            <a:spAutoFit/>
          </a:bodyPr>
          <a:lstStyle/>
          <a:p>
            <a:pPr algn="ctr"/>
            <a:r>
              <a:rPr sz="1000" b="0">
                <a:solidFill>
                  <a:srgbClr val="FFFFFF"/>
                </a:solidFill>
                <a:latin typeface="Aptos"/>
              </a:rPr>
              <a:t>reviews + ratings</a:t>
            </a:r>
          </a:p>
        </p:txBody>
      </p:sp>
      <p:sp>
        <p:nvSpPr>
          <p:cNvPr id="11" name="Rounded Rectangle 10"/>
          <p:cNvSpPr/>
          <p:nvPr/>
        </p:nvSpPr>
        <p:spPr>
          <a:xfrm>
            <a:off x="3063240" y="1444752"/>
            <a:ext cx="2148840" cy="1261872"/>
          </a:xfrm>
          <a:prstGeom prst="roundRect">
            <a:avLst/>
          </a:prstGeom>
          <a:solidFill>
            <a:srgbClr val="16B3A3"/>
          </a:solidFill>
          <a:ln w="12700">
            <a:solidFill>
              <a:srgbClr val="16B3A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172968" y="1645920"/>
            <a:ext cx="1929384" cy="274320"/>
          </a:xfrm>
          <a:prstGeom prst="rect">
            <a:avLst/>
          </a:prstGeom>
          <a:noFill/>
        </p:spPr>
        <p:txBody>
          <a:bodyPr wrap="square" lIns="27432" tIns="27432" rIns="27432" bIns="27432" anchor="t">
            <a:spAutoFit/>
          </a:bodyPr>
          <a:lstStyle/>
          <a:p>
            <a:pPr algn="ctr"/>
            <a:r>
              <a:rPr sz="1400" b="1">
                <a:solidFill>
                  <a:srgbClr val="FFFFFF"/>
                </a:solidFill>
                <a:latin typeface="Aptos"/>
              </a:rPr>
              <a:t>TF–IDF</a:t>
            </a:r>
          </a:p>
        </p:txBody>
      </p:sp>
      <p:sp>
        <p:nvSpPr>
          <p:cNvPr id="13" name="TextBox 12"/>
          <p:cNvSpPr txBox="1"/>
          <p:nvPr/>
        </p:nvSpPr>
        <p:spPr>
          <a:xfrm>
            <a:off x="3172968" y="2020824"/>
            <a:ext cx="1929384" cy="493776"/>
          </a:xfrm>
          <a:prstGeom prst="rect">
            <a:avLst/>
          </a:prstGeom>
          <a:noFill/>
        </p:spPr>
        <p:txBody>
          <a:bodyPr wrap="square" lIns="27432" tIns="27432" rIns="27432" bIns="27432" anchor="t">
            <a:spAutoFit/>
          </a:bodyPr>
          <a:lstStyle/>
          <a:p>
            <a:pPr algn="ctr"/>
            <a:r>
              <a:rPr sz="1000" b="0">
                <a:solidFill>
                  <a:srgbClr val="FFFFFF"/>
                </a:solidFill>
                <a:latin typeface="Aptos"/>
              </a:rPr>
              <a:t>review language</a:t>
            </a:r>
          </a:p>
        </p:txBody>
      </p:sp>
      <p:sp>
        <p:nvSpPr>
          <p:cNvPr id="14" name="Rounded Rectangle 13"/>
          <p:cNvSpPr/>
          <p:nvPr/>
        </p:nvSpPr>
        <p:spPr>
          <a:xfrm>
            <a:off x="3063240" y="3291840"/>
            <a:ext cx="2148840" cy="1261872"/>
          </a:xfrm>
          <a:prstGeom prst="roundRect">
            <a:avLst/>
          </a:prstGeom>
          <a:solidFill>
            <a:srgbClr val="2F6FAE"/>
          </a:solidFill>
          <a:ln w="12700">
            <a:solidFill>
              <a:srgbClr val="2F6FA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172968" y="3493008"/>
            <a:ext cx="1929384" cy="274320"/>
          </a:xfrm>
          <a:prstGeom prst="rect">
            <a:avLst/>
          </a:prstGeom>
          <a:noFill/>
        </p:spPr>
        <p:txBody>
          <a:bodyPr wrap="square" lIns="27432" tIns="27432" rIns="27432" bIns="27432" anchor="t">
            <a:spAutoFit/>
          </a:bodyPr>
          <a:lstStyle/>
          <a:p>
            <a:pPr algn="ctr"/>
            <a:r>
              <a:rPr sz="1400" b="1">
                <a:solidFill>
                  <a:srgbClr val="FFFFFF"/>
                </a:solidFill>
                <a:latin typeface="Aptos"/>
              </a:rPr>
              <a:t>SPARSE SVD</a:t>
            </a:r>
          </a:p>
        </p:txBody>
      </p:sp>
      <p:sp>
        <p:nvSpPr>
          <p:cNvPr id="16" name="TextBox 15"/>
          <p:cNvSpPr txBox="1"/>
          <p:nvPr/>
        </p:nvSpPr>
        <p:spPr>
          <a:xfrm>
            <a:off x="3172968" y="3867912"/>
            <a:ext cx="1929384" cy="493776"/>
          </a:xfrm>
          <a:prstGeom prst="rect">
            <a:avLst/>
          </a:prstGeom>
          <a:noFill/>
        </p:spPr>
        <p:txBody>
          <a:bodyPr wrap="square" lIns="27432" tIns="27432" rIns="27432" bIns="27432" anchor="t">
            <a:spAutoFit/>
          </a:bodyPr>
          <a:lstStyle/>
          <a:p>
            <a:pPr algn="ctr"/>
            <a:r>
              <a:rPr sz="1000" b="0">
                <a:solidFill>
                  <a:srgbClr val="FFFFFF"/>
                </a:solidFill>
                <a:latin typeface="Aptos"/>
              </a:rPr>
              <a:t>user–item ratings</a:t>
            </a:r>
          </a:p>
        </p:txBody>
      </p:sp>
      <p:sp>
        <p:nvSpPr>
          <p:cNvPr id="17" name="Rounded Rectangle 16"/>
          <p:cNvSpPr/>
          <p:nvPr/>
        </p:nvSpPr>
        <p:spPr>
          <a:xfrm>
            <a:off x="5989320" y="2331720"/>
            <a:ext cx="2194560" cy="1353312"/>
          </a:xfrm>
          <a:prstGeom prst="roundRect">
            <a:avLst/>
          </a:prstGeom>
          <a:solidFill>
            <a:srgbClr val="F59E0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099048" y="2532888"/>
            <a:ext cx="1975104" cy="274320"/>
          </a:xfrm>
          <a:prstGeom prst="rect">
            <a:avLst/>
          </a:prstGeom>
          <a:noFill/>
        </p:spPr>
        <p:txBody>
          <a:bodyPr wrap="square" lIns="27432" tIns="27432" rIns="27432" bIns="27432" anchor="t">
            <a:spAutoFit/>
          </a:bodyPr>
          <a:lstStyle/>
          <a:p>
            <a:pPr algn="ctr"/>
            <a:r>
              <a:rPr sz="1400" b="1">
                <a:solidFill>
                  <a:srgbClr val="0B1F33"/>
                </a:solidFill>
                <a:latin typeface="Aptos"/>
              </a:rPr>
              <a:t>HYBRID</a:t>
            </a:r>
          </a:p>
        </p:txBody>
      </p:sp>
      <p:sp>
        <p:nvSpPr>
          <p:cNvPr id="19" name="TextBox 18"/>
          <p:cNvSpPr txBox="1"/>
          <p:nvPr/>
        </p:nvSpPr>
        <p:spPr>
          <a:xfrm>
            <a:off x="6099048" y="2907791"/>
            <a:ext cx="1975104" cy="493776"/>
          </a:xfrm>
          <a:prstGeom prst="rect">
            <a:avLst/>
          </a:prstGeom>
          <a:noFill/>
        </p:spPr>
        <p:txBody>
          <a:bodyPr wrap="square" lIns="27432" tIns="27432" rIns="27432" bIns="27432" anchor="t">
            <a:spAutoFit/>
          </a:bodyPr>
          <a:lstStyle/>
          <a:p>
            <a:pPr algn="ctr"/>
            <a:r>
              <a:rPr sz="1000" b="0">
                <a:solidFill>
                  <a:srgbClr val="0B1F33"/>
                </a:solidFill>
                <a:latin typeface="Aptos"/>
              </a:rPr>
              <a:t>55% content
45% collaborative</a:t>
            </a:r>
          </a:p>
        </p:txBody>
      </p:sp>
      <p:sp>
        <p:nvSpPr>
          <p:cNvPr id="20" name="Rounded Rectangle 19"/>
          <p:cNvSpPr/>
          <p:nvPr/>
        </p:nvSpPr>
        <p:spPr>
          <a:xfrm>
            <a:off x="9052560" y="2331720"/>
            <a:ext cx="2240280" cy="1353312"/>
          </a:xfrm>
          <a:prstGeom prst="roundRect">
            <a:avLst/>
          </a:prstGeom>
          <a:solidFill>
            <a:srgbClr val="0B1F33"/>
          </a:solidFill>
          <a:ln w="12700">
            <a:solidFill>
              <a:srgbClr val="0B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62288" y="2532888"/>
            <a:ext cx="2020824" cy="274320"/>
          </a:xfrm>
          <a:prstGeom prst="rect">
            <a:avLst/>
          </a:prstGeom>
          <a:noFill/>
        </p:spPr>
        <p:txBody>
          <a:bodyPr wrap="square" lIns="27432" tIns="27432" rIns="27432" bIns="27432" anchor="t">
            <a:spAutoFit/>
          </a:bodyPr>
          <a:lstStyle/>
          <a:p>
            <a:pPr algn="ctr"/>
            <a:r>
              <a:rPr sz="1400" b="1">
                <a:solidFill>
                  <a:srgbClr val="FFFFFF"/>
                </a:solidFill>
                <a:latin typeface="Aptos"/>
              </a:rPr>
              <a:t>RANKED CARS</a:t>
            </a:r>
          </a:p>
        </p:txBody>
      </p:sp>
      <p:sp>
        <p:nvSpPr>
          <p:cNvPr id="22" name="TextBox 21"/>
          <p:cNvSpPr txBox="1"/>
          <p:nvPr/>
        </p:nvSpPr>
        <p:spPr>
          <a:xfrm>
            <a:off x="9162288" y="2907791"/>
            <a:ext cx="2020824" cy="493776"/>
          </a:xfrm>
          <a:prstGeom prst="rect">
            <a:avLst/>
          </a:prstGeom>
          <a:noFill/>
        </p:spPr>
        <p:txBody>
          <a:bodyPr wrap="square" lIns="27432" tIns="27432" rIns="27432" bIns="27432" anchor="t">
            <a:spAutoFit/>
          </a:bodyPr>
          <a:lstStyle/>
          <a:p>
            <a:pPr algn="ctr"/>
            <a:r>
              <a:rPr sz="1000" b="0">
                <a:solidFill>
                  <a:srgbClr val="FFFFFF"/>
                </a:solidFill>
                <a:latin typeface="Aptos"/>
              </a:rPr>
              <a:t>titles + scores + metadata</a:t>
            </a:r>
          </a:p>
        </p:txBody>
      </p:sp>
      <p:cxnSp>
        <p:nvCxnSpPr>
          <p:cNvPr id="23" name="Connector 22"/>
          <p:cNvCxnSpPr/>
          <p:nvPr/>
        </p:nvCxnSpPr>
        <p:spPr>
          <a:xfrm flipV="1">
            <a:off x="2514600" y="2057400"/>
            <a:ext cx="548640" cy="502920"/>
          </a:xfrm>
          <a:prstGeom prst="line">
            <a:avLst/>
          </a:prstGeom>
          <a:ln w="25400">
            <a:solidFill>
              <a:srgbClr val="16B3A3"/>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514600" y="2907792"/>
            <a:ext cx="548640" cy="932688"/>
          </a:xfrm>
          <a:prstGeom prst="line">
            <a:avLst/>
          </a:prstGeom>
          <a:ln w="25400">
            <a:solidFill>
              <a:srgbClr val="2F6FAE"/>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212080" y="2057400"/>
            <a:ext cx="777240" cy="685800"/>
          </a:xfrm>
          <a:prstGeom prst="line">
            <a:avLst/>
          </a:prstGeom>
          <a:ln w="25400">
            <a:solidFill>
              <a:srgbClr val="16B3A3"/>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5212080" y="3310128"/>
            <a:ext cx="777240" cy="530352"/>
          </a:xfrm>
          <a:prstGeom prst="line">
            <a:avLst/>
          </a:prstGeom>
          <a:ln w="25400">
            <a:solidFill>
              <a:srgbClr val="2F6FAE"/>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183879" y="3017520"/>
            <a:ext cx="868681" cy="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49808" y="4956048"/>
            <a:ext cx="3246120" cy="384048"/>
          </a:xfrm>
          <a:prstGeom prst="roundRect">
            <a:avLst>
              <a:gd name="adj" fmla="val 25000"/>
            </a:avLst>
          </a:prstGeom>
          <a:solidFill>
            <a:srgbClr val="16B3A3"/>
          </a:solidFill>
          <a:ln w="12700">
            <a:solidFill>
              <a:srgbClr val="16B3A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49808" y="4965192"/>
            <a:ext cx="3246120" cy="347472"/>
          </a:xfrm>
          <a:prstGeom prst="rect">
            <a:avLst/>
          </a:prstGeom>
          <a:noFill/>
        </p:spPr>
        <p:txBody>
          <a:bodyPr wrap="square" lIns="27432" tIns="27432" rIns="27432" bIns="27432" anchor="ctr">
            <a:spAutoFit/>
          </a:bodyPr>
          <a:lstStyle/>
          <a:p>
            <a:pPr algn="ctr"/>
            <a:r>
              <a:rPr sz="1050" b="1">
                <a:solidFill>
                  <a:srgbClr val="FFFFFF"/>
                </a:solidFill>
                <a:latin typeface="Aptos"/>
              </a:rPr>
              <a:t>content_based_recommender(title, n)</a:t>
            </a:r>
          </a:p>
        </p:txBody>
      </p:sp>
      <p:sp>
        <p:nvSpPr>
          <p:cNvPr id="30" name="Rounded Rectangle 29"/>
          <p:cNvSpPr/>
          <p:nvPr/>
        </p:nvSpPr>
        <p:spPr>
          <a:xfrm>
            <a:off x="4270248" y="4956048"/>
            <a:ext cx="3456432" cy="384048"/>
          </a:xfrm>
          <a:prstGeom prst="roundRect">
            <a:avLst>
              <a:gd name="adj" fmla="val 25000"/>
            </a:avLst>
          </a:prstGeom>
          <a:solidFill>
            <a:srgbClr val="2F6FAE"/>
          </a:solidFill>
          <a:ln w="12700">
            <a:solidFill>
              <a:srgbClr val="2F6FA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270248" y="4965192"/>
            <a:ext cx="3456432" cy="347472"/>
          </a:xfrm>
          <a:prstGeom prst="rect">
            <a:avLst/>
          </a:prstGeom>
          <a:noFill/>
        </p:spPr>
        <p:txBody>
          <a:bodyPr wrap="square" lIns="27432" tIns="27432" rIns="27432" bIns="27432" anchor="ctr">
            <a:spAutoFit/>
          </a:bodyPr>
          <a:lstStyle/>
          <a:p>
            <a:pPr algn="ctr"/>
            <a:r>
              <a:rPr sz="1050" b="1">
                <a:solidFill>
                  <a:srgbClr val="FFFFFF"/>
                </a:solidFill>
                <a:latin typeface="Aptos"/>
              </a:rPr>
              <a:t>collaborative_recommender(user_id, n)</a:t>
            </a:r>
          </a:p>
        </p:txBody>
      </p:sp>
      <p:sp>
        <p:nvSpPr>
          <p:cNvPr id="32" name="Rounded Rectangle 31"/>
          <p:cNvSpPr/>
          <p:nvPr/>
        </p:nvSpPr>
        <p:spPr>
          <a:xfrm>
            <a:off x="8010144" y="4956048"/>
            <a:ext cx="3429000" cy="384048"/>
          </a:xfrm>
          <a:prstGeom prst="roundRect">
            <a:avLst>
              <a:gd name="adj" fmla="val 25000"/>
            </a:avLst>
          </a:prstGeom>
          <a:solidFill>
            <a:srgbClr val="F59E0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010144" y="4965192"/>
            <a:ext cx="3429000" cy="347472"/>
          </a:xfrm>
          <a:prstGeom prst="rect">
            <a:avLst/>
          </a:prstGeom>
          <a:noFill/>
        </p:spPr>
        <p:txBody>
          <a:bodyPr wrap="square" lIns="27432" tIns="27432" rIns="27432" bIns="27432" anchor="ctr">
            <a:spAutoFit/>
          </a:bodyPr>
          <a:lstStyle/>
          <a:p>
            <a:pPr algn="ctr"/>
            <a:r>
              <a:rPr sz="1050" b="1">
                <a:solidFill>
                  <a:srgbClr val="0B1F33"/>
                </a:solidFill>
                <a:latin typeface="Aptos"/>
              </a:rPr>
              <a:t>hybrid_recommender(title, user_id, k)</a:t>
            </a:r>
          </a:p>
        </p:txBody>
      </p:sp>
      <p:sp>
        <p:nvSpPr>
          <p:cNvPr id="34" name="TextBox 33"/>
          <p:cNvSpPr txBox="1"/>
          <p:nvPr/>
        </p:nvSpPr>
        <p:spPr>
          <a:xfrm>
            <a:off x="2194560" y="5559552"/>
            <a:ext cx="7863840" cy="320040"/>
          </a:xfrm>
          <a:prstGeom prst="rect">
            <a:avLst/>
          </a:prstGeom>
          <a:noFill/>
        </p:spPr>
        <p:txBody>
          <a:bodyPr wrap="square" lIns="27432" tIns="27432" rIns="27432" bIns="27432" anchor="t">
            <a:spAutoFit/>
          </a:bodyPr>
          <a:lstStyle/>
          <a:p>
            <a:pPr algn="ctr"/>
            <a:r>
              <a:rPr sz="1100" b="0">
                <a:solidFill>
                  <a:srgbClr val="5D6F80"/>
                </a:solidFill>
                <a:latin typeface="Aptos"/>
              </a:rPr>
              <a:t>Required interfaces completed and demonstrated in the executed notebook</a:t>
            </a:r>
          </a:p>
        </p:txBody>
      </p:sp>
      <p:sp>
        <p:nvSpPr>
          <p:cNvPr id="35" name="Rectangle 34"/>
          <p:cNvSpPr/>
          <p:nvPr/>
        </p:nvSpPr>
        <p:spPr>
          <a:xfrm>
            <a:off x="0" y="6565392"/>
            <a:ext cx="12191695" cy="292608"/>
          </a:xfrm>
          <a:prstGeom prst="rect">
            <a:avLst/>
          </a:prstGeom>
          <a:solidFill>
            <a:srgbClr val="0B1F33"/>
          </a:solidFill>
          <a:ln>
            <a:solidFill>
              <a:srgbClr val="0B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30352" y="6611112"/>
            <a:ext cx="5029200" cy="155448"/>
          </a:xfrm>
          <a:prstGeom prst="rect">
            <a:avLst/>
          </a:prstGeom>
          <a:noFill/>
        </p:spPr>
        <p:txBody>
          <a:bodyPr wrap="square" lIns="27432" tIns="27432" rIns="27432" bIns="27432" anchor="t">
            <a:spAutoFit/>
          </a:bodyPr>
          <a:lstStyle/>
          <a:p>
            <a:pPr algn="l"/>
            <a:r>
              <a:rPr sz="850" b="0">
                <a:solidFill>
                  <a:srgbClr val="FFFFFF"/>
                </a:solidFill>
                <a:latin typeface="Aptos"/>
              </a:rPr>
              <a:t>DSC 201 • Project 1</a:t>
            </a:r>
          </a:p>
        </p:txBody>
      </p:sp>
      <p:sp>
        <p:nvSpPr>
          <p:cNvPr id="37" name="TextBox 36"/>
          <p:cNvSpPr txBox="1"/>
          <p:nvPr/>
        </p:nvSpPr>
        <p:spPr>
          <a:xfrm>
            <a:off x="11201400" y="6611112"/>
            <a:ext cx="411480" cy="155448"/>
          </a:xfrm>
          <a:prstGeom prst="rect">
            <a:avLst/>
          </a:prstGeom>
          <a:noFill/>
        </p:spPr>
        <p:txBody>
          <a:bodyPr wrap="square" lIns="27432" tIns="27432" rIns="27432" bIns="27432" anchor="t">
            <a:spAutoFit/>
          </a:bodyPr>
          <a:lstStyle/>
          <a:p>
            <a:pPr algn="r"/>
            <a:r>
              <a:rPr sz="850" b="1">
                <a:solidFill>
                  <a:srgbClr val="FFFFFF"/>
                </a:solidFill>
                <a:latin typeface="Aptos"/>
              </a:rPr>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8FB"/>
          </a:solidFill>
          <a:ln w="12700">
            <a:solidFill>
              <a:srgbClr val="F4F8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74320"/>
            <a:ext cx="3657600" cy="256032"/>
          </a:xfrm>
          <a:prstGeom prst="rect">
            <a:avLst/>
          </a:prstGeom>
          <a:noFill/>
        </p:spPr>
        <p:txBody>
          <a:bodyPr wrap="square" lIns="27432" tIns="27432" rIns="27432" bIns="27432" anchor="t">
            <a:spAutoFit/>
          </a:bodyPr>
          <a:lstStyle/>
          <a:p>
            <a:pPr algn="l"/>
            <a:r>
              <a:rPr sz="1000" b="1">
                <a:solidFill>
                  <a:srgbClr val="0C7D76"/>
                </a:solidFill>
                <a:latin typeface="Aptos"/>
              </a:rPr>
              <a:t>MODEL 1</a:t>
            </a:r>
          </a:p>
        </p:txBody>
      </p:sp>
      <p:sp>
        <p:nvSpPr>
          <p:cNvPr id="4" name="TextBox 3"/>
          <p:cNvSpPr txBox="1"/>
          <p:nvPr/>
        </p:nvSpPr>
        <p:spPr>
          <a:xfrm>
            <a:off x="566928" y="548640"/>
            <a:ext cx="10607040" cy="502920"/>
          </a:xfrm>
          <a:prstGeom prst="rect">
            <a:avLst/>
          </a:prstGeom>
          <a:noFill/>
        </p:spPr>
        <p:txBody>
          <a:bodyPr wrap="square" lIns="27432" tIns="27432" rIns="27432" bIns="27432" anchor="t">
            <a:spAutoFit/>
          </a:bodyPr>
          <a:lstStyle/>
          <a:p>
            <a:pPr algn="l"/>
            <a:r>
              <a:rPr sz="2600" b="1">
                <a:solidFill>
                  <a:srgbClr val="0B1F33"/>
                </a:solidFill>
                <a:latin typeface="Aptos Display"/>
              </a:rPr>
              <a:t>Content-based recommendations are coherent and explainable</a:t>
            </a:r>
          </a:p>
        </p:txBody>
      </p:sp>
      <p:sp>
        <p:nvSpPr>
          <p:cNvPr id="5" name="TextBox 4"/>
          <p:cNvSpPr txBox="1"/>
          <p:nvPr/>
        </p:nvSpPr>
        <p:spPr>
          <a:xfrm>
            <a:off x="594360" y="1014984"/>
            <a:ext cx="10789920" cy="384048"/>
          </a:xfrm>
          <a:prstGeom prst="rect">
            <a:avLst/>
          </a:prstGeom>
          <a:noFill/>
        </p:spPr>
        <p:txBody>
          <a:bodyPr wrap="square" lIns="27432" tIns="27432" rIns="27432" bIns="27432" anchor="t">
            <a:spAutoFit/>
          </a:bodyPr>
          <a:lstStyle/>
          <a:p>
            <a:pPr algn="l"/>
            <a:r>
              <a:rPr sz="1150" b="0">
                <a:solidFill>
                  <a:srgbClr val="5D6F80"/>
                </a:solidFill>
                <a:latin typeface="Aptos"/>
              </a:rPr>
              <a:t>TF–IDF unigrams/bigrams + cosine similarity over aggregated review language.</a:t>
            </a:r>
          </a:p>
        </p:txBody>
      </p:sp>
      <p:sp>
        <p:nvSpPr>
          <p:cNvPr id="6" name="Oval 5"/>
          <p:cNvSpPr/>
          <p:nvPr/>
        </p:nvSpPr>
        <p:spPr>
          <a:xfrm>
            <a:off x="11201400" y="274320"/>
            <a:ext cx="411480" cy="411480"/>
          </a:xfrm>
          <a:prstGeom prst="ellipse">
            <a:avLst/>
          </a:prstGeom>
          <a:solidFill>
            <a:srgbClr val="0B1F33"/>
          </a:solidFill>
          <a:ln>
            <a:solidFill>
              <a:srgbClr val="0B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201400" y="274320"/>
            <a:ext cx="411480" cy="411480"/>
          </a:xfrm>
          <a:prstGeom prst="rect">
            <a:avLst/>
          </a:prstGeom>
          <a:noFill/>
        </p:spPr>
        <p:txBody>
          <a:bodyPr wrap="square" lIns="27432" tIns="27432" rIns="27432" bIns="27432" anchor="ctr">
            <a:spAutoFit/>
          </a:bodyPr>
          <a:lstStyle/>
          <a:p>
            <a:pPr algn="ctr"/>
            <a:r>
              <a:rPr sz="1100" b="1">
                <a:solidFill>
                  <a:srgbClr val="FFFFFF"/>
                </a:solidFill>
                <a:latin typeface="Aptos"/>
              </a:rPr>
              <a:t>6</a:t>
            </a:r>
          </a:p>
        </p:txBody>
      </p:sp>
      <p:sp>
        <p:nvSpPr>
          <p:cNvPr id="8" name="Rounded Rectangle 7"/>
          <p:cNvSpPr/>
          <p:nvPr/>
        </p:nvSpPr>
        <p:spPr>
          <a:xfrm>
            <a:off x="621792" y="1554480"/>
            <a:ext cx="3977639" cy="4069080"/>
          </a:xfrm>
          <a:prstGeom prst="roundRect">
            <a:avLst/>
          </a:prstGeom>
          <a:solidFill>
            <a:srgbClr val="FFFFFF"/>
          </a:solidFill>
          <a:ln w="12700">
            <a:solidFill>
              <a:srgbClr val="D3DEE7"/>
            </a:solidFill>
          </a:ln>
        </p:spPr>
        <p:style>
          <a:lnRef idx="1">
            <a:schemeClr val="accent1"/>
          </a:lnRef>
          <a:fillRef idx="3">
            <a:schemeClr val="accent1"/>
          </a:fillRef>
          <a:effectRef idx="2">
            <a:schemeClr val="accent1"/>
          </a:effectRef>
          <a:fontRef idx="minor">
            <a:schemeClr val="lt1"/>
          </a:fontRef>
        </p:style>
        <p:txBody>
          <a:bodyPr wrap="square" lIns="201168" tIns="137160" rIns="164592" bIns="109728" rtlCol="0" anchor="ctr"/>
          <a:lstStyle/>
          <a:p>
            <a:pPr algn="ctr">
              <a:spcAft>
                <a:spcPts val="400"/>
              </a:spcAft>
            </a:pPr>
            <a:r>
              <a:rPr sz="1000" b="1">
                <a:solidFill>
                  <a:srgbClr val="0C7D76"/>
                </a:solidFill>
                <a:latin typeface="Aptos"/>
              </a:rPr>
              <a:t>QUERY VEHICLE</a:t>
            </a:r>
          </a:p>
          <a:p>
            <a:pPr>
              <a:spcAft>
                <a:spcPts val="800"/>
              </a:spcAft>
            </a:pPr>
            <a:r>
              <a:rPr sz="1900" b="1">
                <a:solidFill>
                  <a:srgbClr val="0B1F33"/>
                </a:solidFill>
                <a:latin typeface="Aptos"/>
              </a:rPr>
              <a:t>2002 Acura RSX Type-S</a:t>
            </a:r>
          </a:p>
          <a:p>
            <a:pPr>
              <a:spcAft>
                <a:spcPts val="500"/>
              </a:spcAft>
            </a:pPr>
            <a:r>
              <a:rPr sz="1100" b="1">
                <a:solidFill>
                  <a:srgbClr val="5D6F80"/>
                </a:solidFill>
                <a:latin typeface="Aptos"/>
              </a:rPr>
              <a:t>Top recommendations</a:t>
            </a:r>
          </a:p>
          <a:p>
            <a:pPr>
              <a:spcAft>
                <a:spcPts val="300"/>
              </a:spcAft>
            </a:pPr>
            <a:r>
              <a:rPr sz="1150" b="0">
                <a:solidFill>
                  <a:srgbClr val="22303E"/>
                </a:solidFill>
                <a:latin typeface="Aptos"/>
              </a:rPr>
              <a:t>1. 1999 Acura Integra GS-R</a:t>
            </a:r>
          </a:p>
          <a:p>
            <a:pPr>
              <a:spcAft>
                <a:spcPts val="300"/>
              </a:spcAft>
            </a:pPr>
            <a:r>
              <a:rPr sz="1150" b="0">
                <a:solidFill>
                  <a:srgbClr val="22303E"/>
                </a:solidFill>
                <a:latin typeface="Aptos"/>
              </a:rPr>
              <a:t>2. 2004 Acura RSX Type-S</a:t>
            </a:r>
          </a:p>
          <a:p>
            <a:pPr>
              <a:spcAft>
                <a:spcPts val="300"/>
              </a:spcAft>
            </a:pPr>
            <a:r>
              <a:rPr sz="1150" b="0">
                <a:solidFill>
                  <a:srgbClr val="22303E"/>
                </a:solidFill>
                <a:latin typeface="Aptos"/>
              </a:rPr>
              <a:t>3. 1998 Acura Integra GS-R</a:t>
            </a:r>
          </a:p>
          <a:p>
            <a:pPr>
              <a:spcAft>
                <a:spcPts val="300"/>
              </a:spcAft>
            </a:pPr>
            <a:r>
              <a:rPr sz="1150" b="0">
                <a:solidFill>
                  <a:srgbClr val="22303E"/>
                </a:solidFill>
                <a:latin typeface="Aptos"/>
              </a:rPr>
              <a:t>4. 2002 Acura RSX Hatchback</a:t>
            </a:r>
          </a:p>
          <a:p>
            <a:pPr>
              <a:spcAft>
                <a:spcPts val="0"/>
              </a:spcAft>
            </a:pPr>
            <a:r>
              <a:rPr sz="1150" b="0">
                <a:solidFill>
                  <a:srgbClr val="22303E"/>
                </a:solidFill>
                <a:latin typeface="Aptos"/>
              </a:rPr>
              <a:t>5. 2006 Acura RSX Hatchback</a:t>
            </a:r>
          </a:p>
        </p:txBody>
      </p:sp>
      <p:pic>
        <p:nvPicPr>
          <p:cNvPr id="9" name="Picture 8" descr="content_precision.png"/>
          <p:cNvPicPr>
            <a:picLocks noChangeAspect="1"/>
          </p:cNvPicPr>
          <p:nvPr/>
        </p:nvPicPr>
        <p:blipFill>
          <a:blip r:embed="rId3"/>
          <a:stretch>
            <a:fillRect/>
          </a:stretch>
        </p:blipFill>
        <p:spPr>
          <a:xfrm>
            <a:off x="4828032" y="1508760"/>
            <a:ext cx="6327648" cy="2606040"/>
          </a:xfrm>
          <a:prstGeom prst="rect">
            <a:avLst/>
          </a:prstGeom>
        </p:spPr>
      </p:pic>
      <p:sp>
        <p:nvSpPr>
          <p:cNvPr id="10" name="Rounded Rectangle 9"/>
          <p:cNvSpPr/>
          <p:nvPr/>
        </p:nvSpPr>
        <p:spPr>
          <a:xfrm>
            <a:off x="5074920" y="4160520"/>
            <a:ext cx="2514600" cy="1097280"/>
          </a:xfrm>
          <a:prstGeom prst="roundRect">
            <a:avLst/>
          </a:prstGeom>
          <a:solidFill>
            <a:srgbClr val="FFFFFF"/>
          </a:solidFill>
          <a:ln w="12700">
            <a:solidFill>
              <a:srgbClr val="D3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074920" y="4160520"/>
            <a:ext cx="73152" cy="1097280"/>
          </a:xfrm>
          <a:prstGeom prst="rect">
            <a:avLst/>
          </a:prstGeom>
          <a:solidFill>
            <a:srgbClr val="16B3A3"/>
          </a:solidFill>
          <a:ln w="12700">
            <a:solidFill>
              <a:srgbClr val="16B3A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0" y="4297680"/>
            <a:ext cx="2194560" cy="411480"/>
          </a:xfrm>
          <a:prstGeom prst="rect">
            <a:avLst/>
          </a:prstGeom>
          <a:noFill/>
        </p:spPr>
        <p:txBody>
          <a:bodyPr wrap="square" lIns="27432" tIns="27432" rIns="27432" bIns="27432" anchor="t">
            <a:spAutoFit/>
          </a:bodyPr>
          <a:lstStyle/>
          <a:p>
            <a:pPr algn="l"/>
            <a:r>
              <a:rPr sz="2300" b="1">
                <a:solidFill>
                  <a:srgbClr val="0B1F33"/>
                </a:solidFill>
                <a:latin typeface="Aptos Display"/>
              </a:rPr>
              <a:t>18,287</a:t>
            </a:r>
          </a:p>
        </p:txBody>
      </p:sp>
      <p:sp>
        <p:nvSpPr>
          <p:cNvPr id="13" name="TextBox 12"/>
          <p:cNvSpPr txBox="1"/>
          <p:nvPr/>
        </p:nvSpPr>
        <p:spPr>
          <a:xfrm>
            <a:off x="5303520" y="4727448"/>
            <a:ext cx="2194560" cy="320040"/>
          </a:xfrm>
          <a:prstGeom prst="rect">
            <a:avLst/>
          </a:prstGeom>
          <a:noFill/>
        </p:spPr>
        <p:txBody>
          <a:bodyPr wrap="square" lIns="27432" tIns="27432" rIns="27432" bIns="27432" anchor="t">
            <a:spAutoFit/>
          </a:bodyPr>
          <a:lstStyle/>
          <a:p>
            <a:pPr algn="l"/>
            <a:r>
              <a:rPr sz="1050" b="1">
                <a:solidFill>
                  <a:srgbClr val="5D6F80"/>
                </a:solidFill>
                <a:latin typeface="Aptos"/>
              </a:rPr>
              <a:t>CONTENT-ELIGIBLE VEHICLES</a:t>
            </a:r>
          </a:p>
        </p:txBody>
      </p:sp>
      <p:sp>
        <p:nvSpPr>
          <p:cNvPr id="14" name="Rounded Rectangle 13"/>
          <p:cNvSpPr/>
          <p:nvPr/>
        </p:nvSpPr>
        <p:spPr>
          <a:xfrm>
            <a:off x="7818120" y="4160520"/>
            <a:ext cx="2514600" cy="1097280"/>
          </a:xfrm>
          <a:prstGeom prst="roundRect">
            <a:avLst/>
          </a:prstGeom>
          <a:solidFill>
            <a:srgbClr val="FFFFFF"/>
          </a:solidFill>
          <a:ln w="12700">
            <a:solidFill>
              <a:srgbClr val="D3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818120" y="4160520"/>
            <a:ext cx="73152" cy="1097280"/>
          </a:xfrm>
          <a:prstGeom prst="rect">
            <a:avLst/>
          </a:prstGeom>
          <a:solidFill>
            <a:srgbClr val="2F6FAE"/>
          </a:solidFill>
          <a:ln w="12700">
            <a:solidFill>
              <a:srgbClr val="2F6FA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046720" y="4297680"/>
            <a:ext cx="2194560" cy="411480"/>
          </a:xfrm>
          <a:prstGeom prst="rect">
            <a:avLst/>
          </a:prstGeom>
          <a:noFill/>
        </p:spPr>
        <p:txBody>
          <a:bodyPr wrap="square" lIns="27432" tIns="27432" rIns="27432" bIns="27432" anchor="t">
            <a:spAutoFit/>
          </a:bodyPr>
          <a:lstStyle/>
          <a:p>
            <a:pPr algn="l"/>
            <a:r>
              <a:rPr sz="2300" b="1">
                <a:solidFill>
                  <a:srgbClr val="0B1F33"/>
                </a:solidFill>
                <a:latin typeface="Aptos Display"/>
              </a:rPr>
              <a:t>12,000</a:t>
            </a:r>
          </a:p>
        </p:txBody>
      </p:sp>
      <p:sp>
        <p:nvSpPr>
          <p:cNvPr id="17" name="TextBox 16"/>
          <p:cNvSpPr txBox="1"/>
          <p:nvPr/>
        </p:nvSpPr>
        <p:spPr>
          <a:xfrm>
            <a:off x="8046720" y="4727448"/>
            <a:ext cx="2194560" cy="320040"/>
          </a:xfrm>
          <a:prstGeom prst="rect">
            <a:avLst/>
          </a:prstGeom>
          <a:noFill/>
        </p:spPr>
        <p:txBody>
          <a:bodyPr wrap="square" lIns="27432" tIns="27432" rIns="27432" bIns="27432" anchor="t">
            <a:spAutoFit/>
          </a:bodyPr>
          <a:lstStyle/>
          <a:p>
            <a:pPr algn="l"/>
            <a:r>
              <a:rPr sz="1050" b="1">
                <a:solidFill>
                  <a:srgbClr val="5D6F80"/>
                </a:solidFill>
                <a:latin typeface="Aptos"/>
              </a:rPr>
              <a:t>TF–IDF FEATURES</a:t>
            </a:r>
          </a:p>
        </p:txBody>
      </p:sp>
      <p:sp>
        <p:nvSpPr>
          <p:cNvPr id="18" name="Rounded Rectangle 17"/>
          <p:cNvSpPr/>
          <p:nvPr/>
        </p:nvSpPr>
        <p:spPr>
          <a:xfrm>
            <a:off x="5074920" y="5413248"/>
            <a:ext cx="5257800" cy="640080"/>
          </a:xfrm>
          <a:prstGeom prst="roundRect">
            <a:avLst/>
          </a:prstGeom>
          <a:solidFill>
            <a:srgbClr val="FFFFFF"/>
          </a:solidFill>
          <a:ln w="12700">
            <a:solidFill>
              <a:srgbClr val="D3DEE7"/>
            </a:solidFill>
          </a:ln>
        </p:spPr>
        <p:style>
          <a:lnRef idx="1">
            <a:schemeClr val="accent1"/>
          </a:lnRef>
          <a:fillRef idx="3">
            <a:schemeClr val="accent1"/>
          </a:fillRef>
          <a:effectRef idx="2">
            <a:schemeClr val="accent1"/>
          </a:effectRef>
          <a:fontRef idx="minor">
            <a:schemeClr val="lt1"/>
          </a:fontRef>
        </p:style>
        <p:txBody>
          <a:bodyPr wrap="square" lIns="201168" tIns="137160" rIns="164592" bIns="109728" rtlCol="0" anchor="ctr"/>
          <a:lstStyle/>
          <a:p>
            <a:pPr algn="ctr">
              <a:spcAft>
                <a:spcPts val="400"/>
              </a:spcAft>
            </a:pPr>
            <a:r>
              <a:rPr sz="1000" b="1">
                <a:solidFill>
                  <a:srgbClr val="0C7D76"/>
                </a:solidFill>
                <a:latin typeface="Aptos"/>
              </a:rPr>
              <a:t>Interpretation</a:t>
            </a:r>
          </a:p>
          <a:p>
            <a:pPr>
              <a:spcAft>
                <a:spcPts val="0"/>
              </a:spcAft>
            </a:pPr>
            <a:r>
              <a:rPr sz="1080" b="0">
                <a:solidFill>
                  <a:srgbClr val="22303E"/>
                </a:solidFill>
                <a:latin typeface="Aptos"/>
              </a:rPr>
              <a:t>The nearest neighbors stay within the same product family and nearby model years—strong evidence that review text captures meaningful vehicle similarity.</a:t>
            </a:r>
          </a:p>
        </p:txBody>
      </p:sp>
      <p:sp>
        <p:nvSpPr>
          <p:cNvPr id="19" name="Rectangle 18"/>
          <p:cNvSpPr/>
          <p:nvPr/>
        </p:nvSpPr>
        <p:spPr>
          <a:xfrm>
            <a:off x="0" y="6565392"/>
            <a:ext cx="12191695" cy="292608"/>
          </a:xfrm>
          <a:prstGeom prst="rect">
            <a:avLst/>
          </a:prstGeom>
          <a:solidFill>
            <a:srgbClr val="0B1F33"/>
          </a:solidFill>
          <a:ln>
            <a:solidFill>
              <a:srgbClr val="0B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30352" y="6611112"/>
            <a:ext cx="5029200" cy="155448"/>
          </a:xfrm>
          <a:prstGeom prst="rect">
            <a:avLst/>
          </a:prstGeom>
          <a:noFill/>
        </p:spPr>
        <p:txBody>
          <a:bodyPr wrap="square" lIns="27432" tIns="27432" rIns="27432" bIns="27432" anchor="t">
            <a:spAutoFit/>
          </a:bodyPr>
          <a:lstStyle/>
          <a:p>
            <a:pPr algn="l"/>
            <a:r>
              <a:rPr sz="850" b="0">
                <a:solidFill>
                  <a:srgbClr val="FFFFFF"/>
                </a:solidFill>
                <a:latin typeface="Aptos"/>
              </a:rPr>
              <a:t>DSC 201 • Project 1</a:t>
            </a:r>
          </a:p>
        </p:txBody>
      </p:sp>
      <p:sp>
        <p:nvSpPr>
          <p:cNvPr id="21" name="TextBox 20"/>
          <p:cNvSpPr txBox="1"/>
          <p:nvPr/>
        </p:nvSpPr>
        <p:spPr>
          <a:xfrm>
            <a:off x="11201400" y="6611112"/>
            <a:ext cx="411480" cy="155448"/>
          </a:xfrm>
          <a:prstGeom prst="rect">
            <a:avLst/>
          </a:prstGeom>
          <a:noFill/>
        </p:spPr>
        <p:txBody>
          <a:bodyPr wrap="square" lIns="27432" tIns="27432" rIns="27432" bIns="27432" anchor="t">
            <a:spAutoFit/>
          </a:bodyPr>
          <a:lstStyle/>
          <a:p>
            <a:pPr algn="r"/>
            <a:r>
              <a:rPr sz="850" b="1">
                <a:solidFill>
                  <a:srgbClr val="FFFFFF"/>
                </a:solidFill>
                <a:latin typeface="Aptos"/>
              </a:rP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74320"/>
            <a:ext cx="3657600" cy="256032"/>
          </a:xfrm>
          <a:prstGeom prst="rect">
            <a:avLst/>
          </a:prstGeom>
          <a:noFill/>
        </p:spPr>
        <p:txBody>
          <a:bodyPr wrap="square" lIns="27432" tIns="27432" rIns="27432" bIns="27432" anchor="t">
            <a:spAutoFit/>
          </a:bodyPr>
          <a:lstStyle/>
          <a:p>
            <a:pPr algn="l"/>
            <a:r>
              <a:rPr sz="1000" b="1">
                <a:solidFill>
                  <a:srgbClr val="0C7D76"/>
                </a:solidFill>
                <a:latin typeface="Aptos"/>
              </a:rPr>
              <a:t>MODEL 2</a:t>
            </a:r>
          </a:p>
        </p:txBody>
      </p:sp>
      <p:sp>
        <p:nvSpPr>
          <p:cNvPr id="4" name="TextBox 3"/>
          <p:cNvSpPr txBox="1"/>
          <p:nvPr/>
        </p:nvSpPr>
        <p:spPr>
          <a:xfrm>
            <a:off x="566928" y="548640"/>
            <a:ext cx="10607040" cy="502920"/>
          </a:xfrm>
          <a:prstGeom prst="rect">
            <a:avLst/>
          </a:prstGeom>
          <a:noFill/>
        </p:spPr>
        <p:txBody>
          <a:bodyPr wrap="square" lIns="27432" tIns="27432" rIns="27432" bIns="27432" anchor="t">
            <a:spAutoFit/>
          </a:bodyPr>
          <a:lstStyle/>
          <a:p>
            <a:pPr algn="l"/>
            <a:r>
              <a:rPr sz="2600" b="1">
                <a:solidFill>
                  <a:srgbClr val="0B1F33"/>
                </a:solidFill>
                <a:latin typeface="Aptos Display"/>
              </a:rPr>
              <a:t>Collaborative SVD adds personalization—but sparsity dominates</a:t>
            </a:r>
          </a:p>
        </p:txBody>
      </p:sp>
      <p:sp>
        <p:nvSpPr>
          <p:cNvPr id="5" name="TextBox 4"/>
          <p:cNvSpPr txBox="1"/>
          <p:nvPr/>
        </p:nvSpPr>
        <p:spPr>
          <a:xfrm>
            <a:off x="594360" y="1014984"/>
            <a:ext cx="10789920" cy="384048"/>
          </a:xfrm>
          <a:prstGeom prst="rect">
            <a:avLst/>
          </a:prstGeom>
          <a:noFill/>
        </p:spPr>
        <p:txBody>
          <a:bodyPr wrap="square" lIns="27432" tIns="27432" rIns="27432" bIns="27432" anchor="t">
            <a:spAutoFit/>
          </a:bodyPr>
          <a:lstStyle/>
          <a:p>
            <a:pPr algn="l"/>
            <a:r>
              <a:rPr sz="1150" b="0">
                <a:solidFill>
                  <a:srgbClr val="5D6F80"/>
                </a:solidFill>
                <a:latin typeface="Aptos"/>
              </a:rPr>
              <a:t>User-centered sparse SVD is evaluated honestly against simple rating baselines.</a:t>
            </a:r>
          </a:p>
        </p:txBody>
      </p:sp>
      <p:sp>
        <p:nvSpPr>
          <p:cNvPr id="6" name="Oval 5"/>
          <p:cNvSpPr/>
          <p:nvPr/>
        </p:nvSpPr>
        <p:spPr>
          <a:xfrm>
            <a:off x="11201400" y="274320"/>
            <a:ext cx="411480" cy="411480"/>
          </a:xfrm>
          <a:prstGeom prst="ellipse">
            <a:avLst/>
          </a:prstGeom>
          <a:solidFill>
            <a:srgbClr val="0B1F33"/>
          </a:solidFill>
          <a:ln>
            <a:solidFill>
              <a:srgbClr val="0B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201400" y="274320"/>
            <a:ext cx="411480" cy="411480"/>
          </a:xfrm>
          <a:prstGeom prst="rect">
            <a:avLst/>
          </a:prstGeom>
          <a:noFill/>
        </p:spPr>
        <p:txBody>
          <a:bodyPr wrap="square" lIns="27432" tIns="27432" rIns="27432" bIns="27432" anchor="ctr">
            <a:spAutoFit/>
          </a:bodyPr>
          <a:lstStyle/>
          <a:p>
            <a:pPr algn="ctr"/>
            <a:r>
              <a:rPr sz="1100" b="1">
                <a:solidFill>
                  <a:srgbClr val="FFFFFF"/>
                </a:solidFill>
                <a:latin typeface="Aptos"/>
              </a:rPr>
              <a:t>7</a:t>
            </a:r>
          </a:p>
        </p:txBody>
      </p:sp>
      <p:sp>
        <p:nvSpPr>
          <p:cNvPr id="8" name="Rounded Rectangle 7"/>
          <p:cNvSpPr/>
          <p:nvPr/>
        </p:nvSpPr>
        <p:spPr>
          <a:xfrm>
            <a:off x="621792" y="1481328"/>
            <a:ext cx="2139696" cy="1115568"/>
          </a:xfrm>
          <a:prstGeom prst="roundRect">
            <a:avLst/>
          </a:prstGeom>
          <a:solidFill>
            <a:srgbClr val="FFFFFF"/>
          </a:solidFill>
          <a:ln w="12700">
            <a:solidFill>
              <a:srgbClr val="D3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21792" y="1481328"/>
            <a:ext cx="73152" cy="1115568"/>
          </a:xfrm>
          <a:prstGeom prst="rect">
            <a:avLst/>
          </a:prstGeom>
          <a:solidFill>
            <a:srgbClr val="16B3A3"/>
          </a:solidFill>
          <a:ln w="12700">
            <a:solidFill>
              <a:srgbClr val="16B3A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50392" y="1618488"/>
            <a:ext cx="1819655" cy="411480"/>
          </a:xfrm>
          <a:prstGeom prst="rect">
            <a:avLst/>
          </a:prstGeom>
          <a:noFill/>
        </p:spPr>
        <p:txBody>
          <a:bodyPr wrap="square" lIns="27432" tIns="27432" rIns="27432" bIns="27432" anchor="t">
            <a:spAutoFit/>
          </a:bodyPr>
          <a:lstStyle/>
          <a:p>
            <a:pPr algn="l"/>
            <a:r>
              <a:rPr sz="2300" b="1">
                <a:solidFill>
                  <a:srgbClr val="0B1F33"/>
                </a:solidFill>
                <a:latin typeface="Aptos Display"/>
              </a:rPr>
              <a:t>26,662</a:t>
            </a:r>
          </a:p>
        </p:txBody>
      </p:sp>
      <p:sp>
        <p:nvSpPr>
          <p:cNvPr id="11" name="TextBox 10"/>
          <p:cNvSpPr txBox="1"/>
          <p:nvPr/>
        </p:nvSpPr>
        <p:spPr>
          <a:xfrm>
            <a:off x="850392" y="2048256"/>
            <a:ext cx="1819655" cy="320040"/>
          </a:xfrm>
          <a:prstGeom prst="rect">
            <a:avLst/>
          </a:prstGeom>
          <a:noFill/>
        </p:spPr>
        <p:txBody>
          <a:bodyPr wrap="square" lIns="27432" tIns="27432" rIns="27432" bIns="27432" anchor="t">
            <a:spAutoFit/>
          </a:bodyPr>
          <a:lstStyle/>
          <a:p>
            <a:pPr algn="l"/>
            <a:r>
              <a:rPr sz="1050" b="1">
                <a:solidFill>
                  <a:srgbClr val="5D6F80"/>
                </a:solidFill>
                <a:latin typeface="Aptos"/>
              </a:rPr>
              <a:t>K-CORE INTERACTIONS</a:t>
            </a:r>
          </a:p>
        </p:txBody>
      </p:sp>
      <p:sp>
        <p:nvSpPr>
          <p:cNvPr id="12" name="Rounded Rectangle 11"/>
          <p:cNvSpPr/>
          <p:nvPr/>
        </p:nvSpPr>
        <p:spPr>
          <a:xfrm>
            <a:off x="2944368" y="1481328"/>
            <a:ext cx="2139696" cy="1115568"/>
          </a:xfrm>
          <a:prstGeom prst="roundRect">
            <a:avLst/>
          </a:prstGeom>
          <a:solidFill>
            <a:srgbClr val="FFFFFF"/>
          </a:solidFill>
          <a:ln w="12700">
            <a:solidFill>
              <a:srgbClr val="D3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944368" y="1481328"/>
            <a:ext cx="73152" cy="1115568"/>
          </a:xfrm>
          <a:prstGeom prst="rect">
            <a:avLst/>
          </a:prstGeom>
          <a:solidFill>
            <a:srgbClr val="2F6FAE"/>
          </a:solidFill>
          <a:ln w="12700">
            <a:solidFill>
              <a:srgbClr val="2F6FA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172968" y="1618488"/>
            <a:ext cx="1819655" cy="411480"/>
          </a:xfrm>
          <a:prstGeom prst="rect">
            <a:avLst/>
          </a:prstGeom>
          <a:noFill/>
        </p:spPr>
        <p:txBody>
          <a:bodyPr wrap="square" lIns="27432" tIns="27432" rIns="27432" bIns="27432" anchor="t">
            <a:spAutoFit/>
          </a:bodyPr>
          <a:lstStyle/>
          <a:p>
            <a:pPr algn="l"/>
            <a:r>
              <a:rPr sz="2300" b="1">
                <a:solidFill>
                  <a:srgbClr val="0B1F33"/>
                </a:solidFill>
                <a:latin typeface="Aptos Display"/>
              </a:rPr>
              <a:t>2,378</a:t>
            </a:r>
          </a:p>
        </p:txBody>
      </p:sp>
      <p:sp>
        <p:nvSpPr>
          <p:cNvPr id="15" name="TextBox 14"/>
          <p:cNvSpPr txBox="1"/>
          <p:nvPr/>
        </p:nvSpPr>
        <p:spPr>
          <a:xfrm>
            <a:off x="3172968" y="2048256"/>
            <a:ext cx="1819655" cy="320040"/>
          </a:xfrm>
          <a:prstGeom prst="rect">
            <a:avLst/>
          </a:prstGeom>
          <a:noFill/>
        </p:spPr>
        <p:txBody>
          <a:bodyPr wrap="square" lIns="27432" tIns="27432" rIns="27432" bIns="27432" anchor="t">
            <a:spAutoFit/>
          </a:bodyPr>
          <a:lstStyle/>
          <a:p>
            <a:pPr algn="l"/>
            <a:r>
              <a:rPr sz="1050" b="1">
                <a:solidFill>
                  <a:srgbClr val="5D6F80"/>
                </a:solidFill>
                <a:latin typeface="Aptos"/>
              </a:rPr>
              <a:t>SUPPORTED USERS</a:t>
            </a:r>
          </a:p>
        </p:txBody>
      </p:sp>
      <p:sp>
        <p:nvSpPr>
          <p:cNvPr id="16" name="Rounded Rectangle 15"/>
          <p:cNvSpPr/>
          <p:nvPr/>
        </p:nvSpPr>
        <p:spPr>
          <a:xfrm>
            <a:off x="621792" y="2761488"/>
            <a:ext cx="2139696" cy="1115568"/>
          </a:xfrm>
          <a:prstGeom prst="roundRect">
            <a:avLst/>
          </a:prstGeom>
          <a:solidFill>
            <a:srgbClr val="FFFFFF"/>
          </a:solidFill>
          <a:ln w="12700">
            <a:solidFill>
              <a:srgbClr val="D3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21792" y="2761488"/>
            <a:ext cx="73152" cy="1115568"/>
          </a:xfrm>
          <a:prstGeom prst="rect">
            <a:avLst/>
          </a:prstGeom>
          <a:solidFill>
            <a:srgbClr val="F59E0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50392" y="2898648"/>
            <a:ext cx="1819655" cy="411480"/>
          </a:xfrm>
          <a:prstGeom prst="rect">
            <a:avLst/>
          </a:prstGeom>
          <a:noFill/>
        </p:spPr>
        <p:txBody>
          <a:bodyPr wrap="square" lIns="27432" tIns="27432" rIns="27432" bIns="27432" anchor="t">
            <a:spAutoFit/>
          </a:bodyPr>
          <a:lstStyle/>
          <a:p>
            <a:pPr algn="l"/>
            <a:r>
              <a:rPr sz="2300" b="1">
                <a:solidFill>
                  <a:srgbClr val="0B1F33"/>
                </a:solidFill>
                <a:latin typeface="Aptos Display"/>
              </a:rPr>
              <a:t>3,384</a:t>
            </a:r>
          </a:p>
        </p:txBody>
      </p:sp>
      <p:sp>
        <p:nvSpPr>
          <p:cNvPr id="19" name="TextBox 18"/>
          <p:cNvSpPr txBox="1"/>
          <p:nvPr/>
        </p:nvSpPr>
        <p:spPr>
          <a:xfrm>
            <a:off x="850392" y="3328416"/>
            <a:ext cx="1819655" cy="320040"/>
          </a:xfrm>
          <a:prstGeom prst="rect">
            <a:avLst/>
          </a:prstGeom>
          <a:noFill/>
        </p:spPr>
        <p:txBody>
          <a:bodyPr wrap="square" lIns="27432" tIns="27432" rIns="27432" bIns="27432" anchor="t">
            <a:spAutoFit/>
          </a:bodyPr>
          <a:lstStyle/>
          <a:p>
            <a:pPr algn="l"/>
            <a:r>
              <a:rPr sz="1050" b="1">
                <a:solidFill>
                  <a:srgbClr val="5D6F80"/>
                </a:solidFill>
                <a:latin typeface="Aptos"/>
              </a:rPr>
              <a:t>SUPPORTED VEHICLES</a:t>
            </a:r>
          </a:p>
        </p:txBody>
      </p:sp>
      <p:sp>
        <p:nvSpPr>
          <p:cNvPr id="20" name="Rounded Rectangle 19"/>
          <p:cNvSpPr/>
          <p:nvPr/>
        </p:nvSpPr>
        <p:spPr>
          <a:xfrm>
            <a:off x="2944368" y="2761488"/>
            <a:ext cx="2139696" cy="1115568"/>
          </a:xfrm>
          <a:prstGeom prst="roundRect">
            <a:avLst/>
          </a:prstGeom>
          <a:solidFill>
            <a:srgbClr val="FFFFFF"/>
          </a:solidFill>
          <a:ln w="12700">
            <a:solidFill>
              <a:srgbClr val="D3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2944368" y="2761488"/>
            <a:ext cx="73152" cy="1115568"/>
          </a:xfrm>
          <a:prstGeom prst="rect">
            <a:avLst/>
          </a:prstGeom>
          <a:solidFill>
            <a:srgbClr val="DC4242"/>
          </a:solidFill>
          <a:ln w="12700">
            <a:solidFill>
              <a:srgbClr val="DC42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172968" y="2898648"/>
            <a:ext cx="1819655" cy="411480"/>
          </a:xfrm>
          <a:prstGeom prst="rect">
            <a:avLst/>
          </a:prstGeom>
          <a:noFill/>
        </p:spPr>
        <p:txBody>
          <a:bodyPr wrap="square" lIns="27432" tIns="27432" rIns="27432" bIns="27432" anchor="t">
            <a:spAutoFit/>
          </a:bodyPr>
          <a:lstStyle/>
          <a:p>
            <a:pPr algn="l"/>
            <a:r>
              <a:rPr sz="2300" b="1">
                <a:solidFill>
                  <a:srgbClr val="0B1F33"/>
                </a:solidFill>
                <a:latin typeface="Aptos Display"/>
              </a:rPr>
              <a:t>0.302%</a:t>
            </a:r>
          </a:p>
        </p:txBody>
      </p:sp>
      <p:sp>
        <p:nvSpPr>
          <p:cNvPr id="23" name="TextBox 22"/>
          <p:cNvSpPr txBox="1"/>
          <p:nvPr/>
        </p:nvSpPr>
        <p:spPr>
          <a:xfrm>
            <a:off x="3172968" y="3328416"/>
            <a:ext cx="1819655" cy="320040"/>
          </a:xfrm>
          <a:prstGeom prst="rect">
            <a:avLst/>
          </a:prstGeom>
          <a:noFill/>
        </p:spPr>
        <p:txBody>
          <a:bodyPr wrap="square" lIns="27432" tIns="27432" rIns="27432" bIns="27432" anchor="t">
            <a:spAutoFit/>
          </a:bodyPr>
          <a:lstStyle/>
          <a:p>
            <a:pPr algn="l"/>
            <a:r>
              <a:rPr sz="1050" b="1">
                <a:solidFill>
                  <a:srgbClr val="5D6F80"/>
                </a:solidFill>
                <a:latin typeface="Aptos"/>
              </a:rPr>
              <a:t>MATRIX DENSITY</a:t>
            </a:r>
          </a:p>
        </p:txBody>
      </p:sp>
      <p:sp>
        <p:nvSpPr>
          <p:cNvPr id="24" name="Rounded Rectangle 23"/>
          <p:cNvSpPr/>
          <p:nvPr/>
        </p:nvSpPr>
        <p:spPr>
          <a:xfrm>
            <a:off x="621792" y="4041648"/>
            <a:ext cx="2139696" cy="1115568"/>
          </a:xfrm>
          <a:prstGeom prst="roundRect">
            <a:avLst/>
          </a:prstGeom>
          <a:solidFill>
            <a:srgbClr val="FFFFFF"/>
          </a:solidFill>
          <a:ln w="12700">
            <a:solidFill>
              <a:srgbClr val="D3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21792" y="4041648"/>
            <a:ext cx="73152" cy="1115568"/>
          </a:xfrm>
          <a:prstGeom prst="rect">
            <a:avLst/>
          </a:prstGeom>
          <a:solidFill>
            <a:srgbClr val="0C7D76"/>
          </a:solidFill>
          <a:ln w="12700">
            <a:solidFill>
              <a:srgbClr val="0C7D7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50392" y="4178808"/>
            <a:ext cx="1819655" cy="411480"/>
          </a:xfrm>
          <a:prstGeom prst="rect">
            <a:avLst/>
          </a:prstGeom>
          <a:noFill/>
        </p:spPr>
        <p:txBody>
          <a:bodyPr wrap="square" lIns="27432" tIns="27432" rIns="27432" bIns="27432" anchor="t">
            <a:spAutoFit/>
          </a:bodyPr>
          <a:lstStyle/>
          <a:p>
            <a:pPr algn="l"/>
            <a:r>
              <a:rPr sz="2300" b="1">
                <a:solidFill>
                  <a:srgbClr val="0B1F33"/>
                </a:solidFill>
                <a:latin typeface="Aptos Display"/>
              </a:rPr>
              <a:t>50</a:t>
            </a:r>
          </a:p>
        </p:txBody>
      </p:sp>
      <p:sp>
        <p:nvSpPr>
          <p:cNvPr id="27" name="TextBox 26"/>
          <p:cNvSpPr txBox="1"/>
          <p:nvPr/>
        </p:nvSpPr>
        <p:spPr>
          <a:xfrm>
            <a:off x="850392" y="4608576"/>
            <a:ext cx="1819655" cy="320040"/>
          </a:xfrm>
          <a:prstGeom prst="rect">
            <a:avLst/>
          </a:prstGeom>
          <a:noFill/>
        </p:spPr>
        <p:txBody>
          <a:bodyPr wrap="square" lIns="27432" tIns="27432" rIns="27432" bIns="27432" anchor="t">
            <a:spAutoFit/>
          </a:bodyPr>
          <a:lstStyle/>
          <a:p>
            <a:pPr algn="l"/>
            <a:r>
              <a:rPr sz="1050" b="1">
                <a:solidFill>
                  <a:srgbClr val="5D6F80"/>
                </a:solidFill>
                <a:latin typeface="Aptos"/>
              </a:rPr>
              <a:t>LATENT FEATURES</a:t>
            </a:r>
          </a:p>
        </p:txBody>
      </p:sp>
      <p:sp>
        <p:nvSpPr>
          <p:cNvPr id="28" name="Rounded Rectangle 27"/>
          <p:cNvSpPr/>
          <p:nvPr/>
        </p:nvSpPr>
        <p:spPr>
          <a:xfrm>
            <a:off x="2944368" y="4041648"/>
            <a:ext cx="2139696" cy="1115568"/>
          </a:xfrm>
          <a:prstGeom prst="roundRect">
            <a:avLst/>
          </a:prstGeom>
          <a:solidFill>
            <a:srgbClr val="FFFFFF"/>
          </a:solidFill>
          <a:ln w="12700">
            <a:solidFill>
              <a:srgbClr val="D3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2944368" y="4041648"/>
            <a:ext cx="73152" cy="1115568"/>
          </a:xfrm>
          <a:prstGeom prst="rect">
            <a:avLst/>
          </a:prstGeom>
          <a:solidFill>
            <a:srgbClr val="14304A"/>
          </a:solidFill>
          <a:ln w="12700">
            <a:solidFill>
              <a:srgbClr val="1430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172968" y="4178808"/>
            <a:ext cx="1819655" cy="411480"/>
          </a:xfrm>
          <a:prstGeom prst="rect">
            <a:avLst/>
          </a:prstGeom>
          <a:noFill/>
        </p:spPr>
        <p:txBody>
          <a:bodyPr wrap="square" lIns="27432" tIns="27432" rIns="27432" bIns="27432" anchor="t">
            <a:spAutoFit/>
          </a:bodyPr>
          <a:lstStyle/>
          <a:p>
            <a:pPr algn="l"/>
            <a:r>
              <a:rPr sz="2300" b="1">
                <a:solidFill>
                  <a:srgbClr val="0B1F33"/>
                </a:solidFill>
                <a:latin typeface="Aptos Display"/>
              </a:rPr>
              <a:t>0.384</a:t>
            </a:r>
          </a:p>
        </p:txBody>
      </p:sp>
      <p:sp>
        <p:nvSpPr>
          <p:cNvPr id="31" name="TextBox 30"/>
          <p:cNvSpPr txBox="1"/>
          <p:nvPr/>
        </p:nvSpPr>
        <p:spPr>
          <a:xfrm>
            <a:off x="3172968" y="4608576"/>
            <a:ext cx="1819655" cy="320040"/>
          </a:xfrm>
          <a:prstGeom prst="rect">
            <a:avLst/>
          </a:prstGeom>
          <a:noFill/>
        </p:spPr>
        <p:txBody>
          <a:bodyPr wrap="square" lIns="27432" tIns="27432" rIns="27432" bIns="27432" anchor="t">
            <a:spAutoFit/>
          </a:bodyPr>
          <a:lstStyle/>
          <a:p>
            <a:pPr algn="l"/>
            <a:r>
              <a:rPr sz="1050" b="1">
                <a:solidFill>
                  <a:srgbClr val="5D6F80"/>
                </a:solidFill>
                <a:latin typeface="Aptos"/>
              </a:rPr>
              <a:t>EXPLAINED VARIANCE</a:t>
            </a:r>
          </a:p>
        </p:txBody>
      </p:sp>
      <p:pic>
        <p:nvPicPr>
          <p:cNvPr id="32" name="Picture 31" descr="collaborative_error.png"/>
          <p:cNvPicPr>
            <a:picLocks noChangeAspect="1"/>
          </p:cNvPicPr>
          <p:nvPr/>
        </p:nvPicPr>
        <p:blipFill>
          <a:blip r:embed="rId3"/>
          <a:stretch>
            <a:fillRect/>
          </a:stretch>
        </p:blipFill>
        <p:spPr>
          <a:xfrm>
            <a:off x="5330952" y="1517904"/>
            <a:ext cx="5897880" cy="3337560"/>
          </a:xfrm>
          <a:prstGeom prst="rect">
            <a:avLst/>
          </a:prstGeom>
        </p:spPr>
      </p:pic>
      <p:sp>
        <p:nvSpPr>
          <p:cNvPr id="33" name="Rounded Rectangle 32"/>
          <p:cNvSpPr/>
          <p:nvPr/>
        </p:nvSpPr>
        <p:spPr>
          <a:xfrm>
            <a:off x="5440680" y="4882896"/>
            <a:ext cx="5623560" cy="914400"/>
          </a:xfrm>
          <a:prstGeom prst="roundRect">
            <a:avLst/>
          </a:prstGeom>
          <a:solidFill>
            <a:srgbClr val="FDEBEB"/>
          </a:solidFill>
          <a:ln w="12700">
            <a:solidFill>
              <a:srgbClr val="F5C2C2"/>
            </a:solidFill>
          </a:ln>
        </p:spPr>
        <p:style>
          <a:lnRef idx="1">
            <a:schemeClr val="accent1"/>
          </a:lnRef>
          <a:fillRef idx="3">
            <a:schemeClr val="accent1"/>
          </a:fillRef>
          <a:effectRef idx="2">
            <a:schemeClr val="accent1"/>
          </a:effectRef>
          <a:fontRef idx="minor">
            <a:schemeClr val="lt1"/>
          </a:fontRef>
        </p:style>
        <p:txBody>
          <a:bodyPr wrap="square" lIns="201168" tIns="137160" rIns="164592" bIns="109728" rtlCol="0" anchor="ctr"/>
          <a:lstStyle/>
          <a:p>
            <a:pPr algn="ctr">
              <a:spcAft>
                <a:spcPts val="400"/>
              </a:spcAft>
            </a:pPr>
            <a:r>
              <a:rPr sz="1000" b="1">
                <a:solidFill>
                  <a:srgbClr val="DC4242"/>
                </a:solidFill>
                <a:latin typeface="Aptos"/>
              </a:rPr>
              <a:t>Honest result</a:t>
            </a:r>
          </a:p>
          <a:p>
            <a:pPr>
              <a:spcAft>
                <a:spcPts val="0"/>
              </a:spcAft>
            </a:pPr>
            <a:r>
              <a:rPr sz="1100" b="0">
                <a:solidFill>
                  <a:srgbClr val="22303E"/>
                </a:solidFill>
                <a:latin typeface="Aptos"/>
              </a:rPr>
              <a:t>SVD RMSE = 0.965; global-mean RMSE = 0.893. The global average wins because most users rated only one vehicle and ratings are concentrated near 4–5 stars.</a:t>
            </a:r>
          </a:p>
        </p:txBody>
      </p:sp>
      <p:sp>
        <p:nvSpPr>
          <p:cNvPr id="34" name="TextBox 33"/>
          <p:cNvSpPr txBox="1"/>
          <p:nvPr/>
        </p:nvSpPr>
        <p:spPr>
          <a:xfrm>
            <a:off x="5532120" y="5916168"/>
            <a:ext cx="5440680" cy="256032"/>
          </a:xfrm>
          <a:prstGeom prst="rect">
            <a:avLst/>
          </a:prstGeom>
          <a:noFill/>
        </p:spPr>
        <p:txBody>
          <a:bodyPr wrap="square" lIns="27432" tIns="27432" rIns="27432" bIns="27432" anchor="t">
            <a:spAutoFit/>
          </a:bodyPr>
          <a:lstStyle/>
          <a:p>
            <a:pPr algn="ctr"/>
            <a:r>
              <a:rPr sz="1050" b="1">
                <a:solidFill>
                  <a:srgbClr val="5D6F80"/>
                </a:solidFill>
                <a:latin typeface="Aptos"/>
              </a:rPr>
              <a:t>Value retained: personalized ranking, not superior rating prediction.</a:t>
            </a:r>
          </a:p>
        </p:txBody>
      </p:sp>
      <p:sp>
        <p:nvSpPr>
          <p:cNvPr id="35" name="Rectangle 34"/>
          <p:cNvSpPr/>
          <p:nvPr/>
        </p:nvSpPr>
        <p:spPr>
          <a:xfrm>
            <a:off x="0" y="6565392"/>
            <a:ext cx="12191695" cy="292608"/>
          </a:xfrm>
          <a:prstGeom prst="rect">
            <a:avLst/>
          </a:prstGeom>
          <a:solidFill>
            <a:srgbClr val="0B1F33"/>
          </a:solidFill>
          <a:ln>
            <a:solidFill>
              <a:srgbClr val="0B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30352" y="6611112"/>
            <a:ext cx="5029200" cy="155448"/>
          </a:xfrm>
          <a:prstGeom prst="rect">
            <a:avLst/>
          </a:prstGeom>
          <a:noFill/>
        </p:spPr>
        <p:txBody>
          <a:bodyPr wrap="square" lIns="27432" tIns="27432" rIns="27432" bIns="27432" anchor="t">
            <a:spAutoFit/>
          </a:bodyPr>
          <a:lstStyle/>
          <a:p>
            <a:pPr algn="l"/>
            <a:r>
              <a:rPr sz="850" b="0">
                <a:solidFill>
                  <a:srgbClr val="FFFFFF"/>
                </a:solidFill>
                <a:latin typeface="Aptos"/>
              </a:rPr>
              <a:t>DSC 201 • Project 1</a:t>
            </a:r>
          </a:p>
        </p:txBody>
      </p:sp>
      <p:sp>
        <p:nvSpPr>
          <p:cNvPr id="37" name="TextBox 36"/>
          <p:cNvSpPr txBox="1"/>
          <p:nvPr/>
        </p:nvSpPr>
        <p:spPr>
          <a:xfrm>
            <a:off x="11201400" y="6611112"/>
            <a:ext cx="411480" cy="155448"/>
          </a:xfrm>
          <a:prstGeom prst="rect">
            <a:avLst/>
          </a:prstGeom>
          <a:noFill/>
        </p:spPr>
        <p:txBody>
          <a:bodyPr wrap="square" lIns="27432" tIns="27432" rIns="27432" bIns="27432" anchor="t">
            <a:spAutoFit/>
          </a:bodyPr>
          <a:lstStyle/>
          <a:p>
            <a:pPr algn="r"/>
            <a:r>
              <a:rPr sz="850" b="1">
                <a:solidFill>
                  <a:srgbClr val="FFFFFF"/>
                </a:solidFill>
                <a:latin typeface="Aptos"/>
              </a:rPr>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8FB"/>
          </a:solidFill>
          <a:ln w="12700">
            <a:solidFill>
              <a:srgbClr val="F4F8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74320"/>
            <a:ext cx="3657600" cy="256032"/>
          </a:xfrm>
          <a:prstGeom prst="rect">
            <a:avLst/>
          </a:prstGeom>
          <a:noFill/>
        </p:spPr>
        <p:txBody>
          <a:bodyPr wrap="square" lIns="27432" tIns="27432" rIns="27432" bIns="27432" anchor="t">
            <a:spAutoFit/>
          </a:bodyPr>
          <a:lstStyle/>
          <a:p>
            <a:pPr algn="l"/>
            <a:r>
              <a:rPr sz="1000" b="1">
                <a:solidFill>
                  <a:srgbClr val="0C7D76"/>
                </a:solidFill>
                <a:latin typeface="Aptos"/>
              </a:rPr>
              <a:t>MODEL 3</a:t>
            </a:r>
          </a:p>
        </p:txBody>
      </p:sp>
      <p:sp>
        <p:nvSpPr>
          <p:cNvPr id="4" name="TextBox 3"/>
          <p:cNvSpPr txBox="1"/>
          <p:nvPr/>
        </p:nvSpPr>
        <p:spPr>
          <a:xfrm>
            <a:off x="566928" y="548640"/>
            <a:ext cx="10607040" cy="502920"/>
          </a:xfrm>
          <a:prstGeom prst="rect">
            <a:avLst/>
          </a:prstGeom>
          <a:noFill/>
        </p:spPr>
        <p:txBody>
          <a:bodyPr wrap="square" lIns="27432" tIns="27432" rIns="27432" bIns="27432" anchor="t">
            <a:spAutoFit/>
          </a:bodyPr>
          <a:lstStyle/>
          <a:p>
            <a:pPr algn="l"/>
            <a:r>
              <a:rPr sz="2600" b="1">
                <a:solidFill>
                  <a:srgbClr val="0B1F33"/>
                </a:solidFill>
                <a:latin typeface="Aptos Display"/>
              </a:rPr>
              <a:t>Hybrid ranking balances relevance and preference</a:t>
            </a:r>
          </a:p>
        </p:txBody>
      </p:sp>
      <p:sp>
        <p:nvSpPr>
          <p:cNvPr id="5" name="TextBox 4"/>
          <p:cNvSpPr txBox="1"/>
          <p:nvPr/>
        </p:nvSpPr>
        <p:spPr>
          <a:xfrm>
            <a:off x="594360" y="1014984"/>
            <a:ext cx="10789920" cy="384048"/>
          </a:xfrm>
          <a:prstGeom prst="rect">
            <a:avLst/>
          </a:prstGeom>
          <a:noFill/>
        </p:spPr>
        <p:txBody>
          <a:bodyPr wrap="square" lIns="27432" tIns="27432" rIns="27432" bIns="27432" anchor="t">
            <a:spAutoFit/>
          </a:bodyPr>
          <a:lstStyle/>
          <a:p>
            <a:pPr algn="l"/>
            <a:r>
              <a:rPr sz="1150" b="0">
                <a:solidFill>
                  <a:srgbClr val="5D6F80"/>
                </a:solidFill>
                <a:latin typeface="Aptos"/>
              </a:rPr>
              <a:t>Retrieve content neighbors first, then re-rank with the user’s SVD score.</a:t>
            </a:r>
          </a:p>
        </p:txBody>
      </p:sp>
      <p:sp>
        <p:nvSpPr>
          <p:cNvPr id="6" name="Oval 5"/>
          <p:cNvSpPr/>
          <p:nvPr/>
        </p:nvSpPr>
        <p:spPr>
          <a:xfrm>
            <a:off x="11201400" y="274320"/>
            <a:ext cx="411480" cy="411480"/>
          </a:xfrm>
          <a:prstGeom prst="ellipse">
            <a:avLst/>
          </a:prstGeom>
          <a:solidFill>
            <a:srgbClr val="0B1F33"/>
          </a:solidFill>
          <a:ln>
            <a:solidFill>
              <a:srgbClr val="0B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201400" y="274320"/>
            <a:ext cx="411480" cy="411480"/>
          </a:xfrm>
          <a:prstGeom prst="rect">
            <a:avLst/>
          </a:prstGeom>
          <a:noFill/>
        </p:spPr>
        <p:txBody>
          <a:bodyPr wrap="square" lIns="27432" tIns="27432" rIns="27432" bIns="27432" anchor="ctr">
            <a:spAutoFit/>
          </a:bodyPr>
          <a:lstStyle/>
          <a:p>
            <a:pPr algn="ctr"/>
            <a:r>
              <a:rPr sz="1100" b="1">
                <a:solidFill>
                  <a:srgbClr val="FFFFFF"/>
                </a:solidFill>
                <a:latin typeface="Aptos"/>
              </a:rPr>
              <a:t>8</a:t>
            </a:r>
          </a:p>
        </p:txBody>
      </p:sp>
      <p:sp>
        <p:nvSpPr>
          <p:cNvPr id="8" name="Rounded Rectangle 7"/>
          <p:cNvSpPr/>
          <p:nvPr/>
        </p:nvSpPr>
        <p:spPr>
          <a:xfrm>
            <a:off x="621792" y="1444752"/>
            <a:ext cx="3154680" cy="1005840"/>
          </a:xfrm>
          <a:prstGeom prst="roundRect">
            <a:avLst/>
          </a:prstGeom>
          <a:solidFill>
            <a:srgbClr val="0B1F33"/>
          </a:solidFill>
          <a:ln w="12700">
            <a:solidFill>
              <a:srgbClr val="0B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1627632"/>
            <a:ext cx="2743200" cy="256032"/>
          </a:xfrm>
          <a:prstGeom prst="rect">
            <a:avLst/>
          </a:prstGeom>
          <a:noFill/>
        </p:spPr>
        <p:txBody>
          <a:bodyPr wrap="square" lIns="27432" tIns="27432" rIns="27432" bIns="27432" anchor="t">
            <a:spAutoFit/>
          </a:bodyPr>
          <a:lstStyle/>
          <a:p>
            <a:pPr algn="ctr"/>
            <a:r>
              <a:rPr sz="1100" b="1">
                <a:solidFill>
                  <a:srgbClr val="16B3A3"/>
                </a:solidFill>
                <a:latin typeface="Aptos"/>
              </a:rPr>
              <a:t>HYBRID SCORE</a:t>
            </a:r>
          </a:p>
        </p:txBody>
      </p:sp>
      <p:sp>
        <p:nvSpPr>
          <p:cNvPr id="10" name="TextBox 9"/>
          <p:cNvSpPr txBox="1"/>
          <p:nvPr/>
        </p:nvSpPr>
        <p:spPr>
          <a:xfrm>
            <a:off x="786384" y="1965960"/>
            <a:ext cx="2834640" cy="256032"/>
          </a:xfrm>
          <a:prstGeom prst="rect">
            <a:avLst/>
          </a:prstGeom>
          <a:noFill/>
        </p:spPr>
        <p:txBody>
          <a:bodyPr wrap="square" lIns="27432" tIns="27432" rIns="27432" bIns="27432" anchor="t">
            <a:spAutoFit/>
          </a:bodyPr>
          <a:lstStyle/>
          <a:p>
            <a:pPr algn="ctr"/>
            <a:r>
              <a:rPr sz="1300" b="1">
                <a:solidFill>
                  <a:srgbClr val="FFFFFF"/>
                </a:solidFill>
                <a:latin typeface="Aptos"/>
              </a:rPr>
              <a:t>0.55 × content  +  0.45 × preference</a:t>
            </a:r>
          </a:p>
        </p:txBody>
      </p:sp>
      <p:sp>
        <p:nvSpPr>
          <p:cNvPr id="11" name="Rounded Rectangle 10"/>
          <p:cNvSpPr/>
          <p:nvPr/>
        </p:nvSpPr>
        <p:spPr>
          <a:xfrm>
            <a:off x="621792" y="2688336"/>
            <a:ext cx="3154680" cy="2423160"/>
          </a:xfrm>
          <a:prstGeom prst="roundRect">
            <a:avLst/>
          </a:prstGeom>
          <a:solidFill>
            <a:srgbClr val="FFFFFF"/>
          </a:solidFill>
          <a:ln w="12700">
            <a:solidFill>
              <a:srgbClr val="D3DEE7"/>
            </a:solidFill>
          </a:ln>
        </p:spPr>
        <p:style>
          <a:lnRef idx="1">
            <a:schemeClr val="accent1"/>
          </a:lnRef>
          <a:fillRef idx="3">
            <a:schemeClr val="accent1"/>
          </a:fillRef>
          <a:effectRef idx="2">
            <a:schemeClr val="accent1"/>
          </a:effectRef>
          <a:fontRef idx="minor">
            <a:schemeClr val="lt1"/>
          </a:fontRef>
        </p:style>
        <p:txBody>
          <a:bodyPr wrap="square" lIns="201168" tIns="137160" rIns="164592" bIns="109728" rtlCol="0" anchor="ctr"/>
          <a:lstStyle/>
          <a:p>
            <a:pPr algn="ctr">
              <a:spcAft>
                <a:spcPts val="500"/>
              </a:spcAft>
            </a:pPr>
            <a:r>
              <a:rPr sz="1000" b="1">
                <a:solidFill>
                  <a:srgbClr val="0C7D76"/>
                </a:solidFill>
                <a:latin typeface="Aptos"/>
              </a:rPr>
              <a:t>WHY THIS DESIGN?</a:t>
            </a:r>
          </a:p>
          <a:p>
            <a:pPr>
              <a:spcAft>
                <a:spcPts val="600"/>
              </a:spcAft>
            </a:pPr>
            <a:r>
              <a:rPr sz="1150" b="0">
                <a:solidFill>
                  <a:srgbClr val="22303E"/>
                </a:solidFill>
                <a:latin typeface="Aptos"/>
              </a:rPr>
              <a:t>Content keeps results relevant to the selected vehicle.</a:t>
            </a:r>
          </a:p>
          <a:p>
            <a:pPr>
              <a:spcAft>
                <a:spcPts val="600"/>
              </a:spcAft>
            </a:pPr>
            <a:r>
              <a:rPr sz="1150" b="0">
                <a:solidFill>
                  <a:srgbClr val="22303E"/>
                </a:solidFill>
                <a:latin typeface="Aptos"/>
              </a:rPr>
              <a:t>SVD personalizes ordering within that candidate pool.</a:t>
            </a:r>
          </a:p>
          <a:p>
            <a:pPr>
              <a:spcAft>
                <a:spcPts val="600"/>
              </a:spcAft>
            </a:pPr>
            <a:r>
              <a:rPr sz="1150" b="0">
                <a:solidFill>
                  <a:srgbClr val="22303E"/>
                </a:solidFill>
                <a:latin typeface="Aptos"/>
              </a:rPr>
              <a:t>Previously rated vehicles are excluded.</a:t>
            </a:r>
          </a:p>
          <a:p>
            <a:pPr>
              <a:spcAft>
                <a:spcPts val="0"/>
              </a:spcAft>
            </a:pPr>
            <a:r>
              <a:rPr sz="1150" b="0">
                <a:solidFill>
                  <a:srgbClr val="22303E"/>
                </a:solidFill>
                <a:latin typeface="Aptos"/>
              </a:rPr>
              <a:t>k controls how many latent features contribute.</a:t>
            </a:r>
          </a:p>
        </p:txBody>
      </p:sp>
      <p:sp>
        <p:nvSpPr>
          <p:cNvPr id="12" name="Rounded Rectangle 11"/>
          <p:cNvSpPr/>
          <p:nvPr/>
        </p:nvSpPr>
        <p:spPr>
          <a:xfrm>
            <a:off x="621792" y="5321808"/>
            <a:ext cx="3154680" cy="777240"/>
          </a:xfrm>
          <a:prstGeom prst="roundRect">
            <a:avLst/>
          </a:prstGeom>
          <a:solidFill>
            <a:srgbClr val="FFFFFF"/>
          </a:solidFill>
          <a:ln w="12700">
            <a:solidFill>
              <a:srgbClr val="D3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1792" y="5321808"/>
            <a:ext cx="73152" cy="777240"/>
          </a:xfrm>
          <a:prstGeom prst="rect">
            <a:avLst/>
          </a:prstGeom>
          <a:solidFill>
            <a:srgbClr val="F59E0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50392" y="5458968"/>
            <a:ext cx="2834640" cy="411480"/>
          </a:xfrm>
          <a:prstGeom prst="rect">
            <a:avLst/>
          </a:prstGeom>
          <a:noFill/>
        </p:spPr>
        <p:txBody>
          <a:bodyPr wrap="square" lIns="27432" tIns="27432" rIns="27432" bIns="27432" anchor="t">
            <a:spAutoFit/>
          </a:bodyPr>
          <a:lstStyle/>
          <a:p>
            <a:pPr algn="l"/>
            <a:r>
              <a:rPr sz="2300" b="1">
                <a:solidFill>
                  <a:srgbClr val="0B1F33"/>
                </a:solidFill>
                <a:latin typeface="Aptos Display"/>
              </a:rPr>
              <a:t>≈96 ms</a:t>
            </a:r>
          </a:p>
        </p:txBody>
      </p:sp>
      <p:sp>
        <p:nvSpPr>
          <p:cNvPr id="15" name="TextBox 14"/>
          <p:cNvSpPr txBox="1"/>
          <p:nvPr/>
        </p:nvSpPr>
        <p:spPr>
          <a:xfrm>
            <a:off x="850392" y="5888736"/>
            <a:ext cx="2834640" cy="320040"/>
          </a:xfrm>
          <a:prstGeom prst="rect">
            <a:avLst/>
          </a:prstGeom>
          <a:noFill/>
        </p:spPr>
        <p:txBody>
          <a:bodyPr wrap="square" lIns="27432" tIns="27432" rIns="27432" bIns="27432" anchor="t">
            <a:spAutoFit/>
          </a:bodyPr>
          <a:lstStyle/>
          <a:p>
            <a:pPr algn="l"/>
            <a:r>
              <a:rPr sz="1050" b="1">
                <a:solidFill>
                  <a:srgbClr val="5D6F80"/>
                </a:solidFill>
                <a:latin typeface="Aptos"/>
              </a:rPr>
              <a:t>EXAMPLE HYBRID QUERY</a:t>
            </a:r>
          </a:p>
        </p:txBody>
      </p:sp>
      <p:sp>
        <p:nvSpPr>
          <p:cNvPr id="16" name="Rounded Rectangle 15"/>
          <p:cNvSpPr/>
          <p:nvPr/>
        </p:nvSpPr>
        <p:spPr>
          <a:xfrm>
            <a:off x="4069080" y="1481328"/>
            <a:ext cx="7452360" cy="4526280"/>
          </a:xfrm>
          <a:prstGeom prst="roundRect">
            <a:avLst/>
          </a:prstGeom>
          <a:solidFill>
            <a:srgbClr val="FFFFFF"/>
          </a:solidFill>
          <a:ln w="12700">
            <a:solidFill>
              <a:srgbClr val="D3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297680" y="1645920"/>
            <a:ext cx="3200400" cy="274320"/>
          </a:xfrm>
          <a:prstGeom prst="rect">
            <a:avLst/>
          </a:prstGeom>
          <a:noFill/>
        </p:spPr>
        <p:txBody>
          <a:bodyPr wrap="square" lIns="27432" tIns="27432" rIns="27432" bIns="27432" anchor="t">
            <a:spAutoFit/>
          </a:bodyPr>
          <a:lstStyle/>
          <a:p>
            <a:pPr algn="l"/>
            <a:r>
              <a:rPr sz="1400" b="1">
                <a:solidFill>
                  <a:srgbClr val="0B1F33"/>
                </a:solidFill>
                <a:latin typeface="Aptos"/>
              </a:rPr>
              <a:t>Example ranked output</a:t>
            </a:r>
          </a:p>
        </p:txBody>
      </p:sp>
      <p:sp>
        <p:nvSpPr>
          <p:cNvPr id="18" name="TextBox 17"/>
          <p:cNvSpPr txBox="1"/>
          <p:nvPr/>
        </p:nvSpPr>
        <p:spPr>
          <a:xfrm>
            <a:off x="4297680" y="2103120"/>
            <a:ext cx="4846320" cy="256032"/>
          </a:xfrm>
          <a:prstGeom prst="rect">
            <a:avLst/>
          </a:prstGeom>
          <a:noFill/>
        </p:spPr>
        <p:txBody>
          <a:bodyPr wrap="square" lIns="27432" tIns="27432" rIns="27432" bIns="27432" anchor="t">
            <a:spAutoFit/>
          </a:bodyPr>
          <a:lstStyle/>
          <a:p>
            <a:pPr algn="l"/>
            <a:r>
              <a:rPr sz="950" b="1">
                <a:solidFill>
                  <a:srgbClr val="5D6F80"/>
                </a:solidFill>
                <a:latin typeface="Aptos"/>
              </a:rPr>
              <a:t>Vehicle</a:t>
            </a:r>
          </a:p>
        </p:txBody>
      </p:sp>
      <p:sp>
        <p:nvSpPr>
          <p:cNvPr id="19" name="TextBox 18"/>
          <p:cNvSpPr txBox="1"/>
          <p:nvPr/>
        </p:nvSpPr>
        <p:spPr>
          <a:xfrm>
            <a:off x="9235440" y="2103120"/>
            <a:ext cx="566928" cy="256032"/>
          </a:xfrm>
          <a:prstGeom prst="rect">
            <a:avLst/>
          </a:prstGeom>
          <a:noFill/>
        </p:spPr>
        <p:txBody>
          <a:bodyPr wrap="square" lIns="27432" tIns="27432" rIns="27432" bIns="27432" anchor="t">
            <a:spAutoFit/>
          </a:bodyPr>
          <a:lstStyle/>
          <a:p>
            <a:pPr algn="l"/>
            <a:r>
              <a:rPr sz="950" b="1">
                <a:solidFill>
                  <a:srgbClr val="5D6F80"/>
                </a:solidFill>
                <a:latin typeface="Aptos"/>
              </a:rPr>
              <a:t>Year</a:t>
            </a:r>
          </a:p>
        </p:txBody>
      </p:sp>
      <p:sp>
        <p:nvSpPr>
          <p:cNvPr id="20" name="TextBox 19"/>
          <p:cNvSpPr txBox="1"/>
          <p:nvPr/>
        </p:nvSpPr>
        <p:spPr>
          <a:xfrm>
            <a:off x="9939528" y="2103120"/>
            <a:ext cx="621792" cy="256032"/>
          </a:xfrm>
          <a:prstGeom prst="rect">
            <a:avLst/>
          </a:prstGeom>
          <a:noFill/>
        </p:spPr>
        <p:txBody>
          <a:bodyPr wrap="square" lIns="27432" tIns="27432" rIns="27432" bIns="27432" anchor="t">
            <a:spAutoFit/>
          </a:bodyPr>
          <a:lstStyle/>
          <a:p>
            <a:pPr algn="l"/>
            <a:r>
              <a:rPr sz="950" b="1">
                <a:solidFill>
                  <a:srgbClr val="5D6F80"/>
                </a:solidFill>
                <a:latin typeface="Aptos"/>
              </a:rPr>
              <a:t>Pred.</a:t>
            </a:r>
          </a:p>
        </p:txBody>
      </p:sp>
      <p:sp>
        <p:nvSpPr>
          <p:cNvPr id="21" name="TextBox 20"/>
          <p:cNvSpPr txBox="1"/>
          <p:nvPr/>
        </p:nvSpPr>
        <p:spPr>
          <a:xfrm>
            <a:off x="10625328" y="2103120"/>
            <a:ext cx="621792" cy="256032"/>
          </a:xfrm>
          <a:prstGeom prst="rect">
            <a:avLst/>
          </a:prstGeom>
          <a:noFill/>
        </p:spPr>
        <p:txBody>
          <a:bodyPr wrap="square" lIns="27432" tIns="27432" rIns="27432" bIns="27432" anchor="t">
            <a:spAutoFit/>
          </a:bodyPr>
          <a:lstStyle/>
          <a:p>
            <a:pPr algn="l"/>
            <a:r>
              <a:rPr sz="950" b="1">
                <a:solidFill>
                  <a:srgbClr val="5D6F80"/>
                </a:solidFill>
                <a:latin typeface="Aptos"/>
              </a:rPr>
              <a:t>Hybrid</a:t>
            </a:r>
          </a:p>
        </p:txBody>
      </p:sp>
      <p:sp>
        <p:nvSpPr>
          <p:cNvPr id="22" name="Rectangle 21"/>
          <p:cNvSpPr/>
          <p:nvPr/>
        </p:nvSpPr>
        <p:spPr>
          <a:xfrm>
            <a:off x="4251960" y="2414016"/>
            <a:ext cx="7086600" cy="18288"/>
          </a:xfrm>
          <a:prstGeom prst="rect">
            <a:avLst/>
          </a:prstGeom>
          <a:solidFill>
            <a:srgbClr val="D3DEE7"/>
          </a:solidFill>
          <a:ln>
            <a:solidFill>
              <a:srgbClr val="D3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233672" y="2514600"/>
            <a:ext cx="7123176" cy="466344"/>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297680" y="2560320"/>
            <a:ext cx="4846320" cy="347472"/>
          </a:xfrm>
          <a:prstGeom prst="rect">
            <a:avLst/>
          </a:prstGeom>
          <a:noFill/>
        </p:spPr>
        <p:txBody>
          <a:bodyPr wrap="square" lIns="27432" tIns="27432" rIns="27432" bIns="27432" anchor="t">
            <a:spAutoFit/>
          </a:bodyPr>
          <a:lstStyle/>
          <a:p>
            <a:pPr algn="l"/>
            <a:r>
              <a:rPr sz="940" b="1">
                <a:solidFill>
                  <a:srgbClr val="22303E"/>
                </a:solidFill>
                <a:latin typeface="Aptos"/>
              </a:rPr>
              <a:t>2006 Chevrolet TrailBlazer • SUV • LS 4dr • SUV • (4.2L 6cyl 4A)</a:t>
            </a:r>
          </a:p>
        </p:txBody>
      </p:sp>
      <p:sp>
        <p:nvSpPr>
          <p:cNvPr id="25" name="TextBox 24"/>
          <p:cNvSpPr txBox="1"/>
          <p:nvPr/>
        </p:nvSpPr>
        <p:spPr>
          <a:xfrm>
            <a:off x="9235440" y="2560320"/>
            <a:ext cx="566928" cy="292608"/>
          </a:xfrm>
          <a:prstGeom prst="rect">
            <a:avLst/>
          </a:prstGeom>
          <a:noFill/>
        </p:spPr>
        <p:txBody>
          <a:bodyPr wrap="square" lIns="27432" tIns="27432" rIns="27432" bIns="27432" anchor="t">
            <a:spAutoFit/>
          </a:bodyPr>
          <a:lstStyle/>
          <a:p>
            <a:pPr algn="ctr"/>
            <a:r>
              <a:rPr sz="940" b="0">
                <a:solidFill>
                  <a:srgbClr val="22303E"/>
                </a:solidFill>
                <a:latin typeface="Aptos"/>
              </a:rPr>
              <a:t>2006</a:t>
            </a:r>
          </a:p>
        </p:txBody>
      </p:sp>
      <p:sp>
        <p:nvSpPr>
          <p:cNvPr id="26" name="TextBox 25"/>
          <p:cNvSpPr txBox="1"/>
          <p:nvPr/>
        </p:nvSpPr>
        <p:spPr>
          <a:xfrm>
            <a:off x="9939528" y="2560320"/>
            <a:ext cx="621792" cy="292608"/>
          </a:xfrm>
          <a:prstGeom prst="rect">
            <a:avLst/>
          </a:prstGeom>
          <a:noFill/>
        </p:spPr>
        <p:txBody>
          <a:bodyPr wrap="square" lIns="27432" tIns="27432" rIns="27432" bIns="27432" anchor="t">
            <a:spAutoFit/>
          </a:bodyPr>
          <a:lstStyle/>
          <a:p>
            <a:pPr algn="ctr"/>
            <a:r>
              <a:rPr sz="940" b="1">
                <a:solidFill>
                  <a:srgbClr val="2F6FAE"/>
                </a:solidFill>
                <a:latin typeface="Aptos"/>
              </a:rPr>
              <a:t>3.92</a:t>
            </a:r>
          </a:p>
        </p:txBody>
      </p:sp>
      <p:sp>
        <p:nvSpPr>
          <p:cNvPr id="27" name="TextBox 26"/>
          <p:cNvSpPr txBox="1"/>
          <p:nvPr/>
        </p:nvSpPr>
        <p:spPr>
          <a:xfrm>
            <a:off x="10625328" y="2560320"/>
            <a:ext cx="621792" cy="292608"/>
          </a:xfrm>
          <a:prstGeom prst="rect">
            <a:avLst/>
          </a:prstGeom>
          <a:noFill/>
        </p:spPr>
        <p:txBody>
          <a:bodyPr wrap="square" lIns="27432" tIns="27432" rIns="27432" bIns="27432" anchor="t">
            <a:spAutoFit/>
          </a:bodyPr>
          <a:lstStyle/>
          <a:p>
            <a:pPr algn="ctr"/>
            <a:r>
              <a:rPr sz="940" b="1">
                <a:solidFill>
                  <a:srgbClr val="0C7D76"/>
                </a:solidFill>
                <a:latin typeface="Aptos"/>
              </a:rPr>
              <a:t>0.889</a:t>
            </a:r>
          </a:p>
        </p:txBody>
      </p:sp>
      <p:sp>
        <p:nvSpPr>
          <p:cNvPr id="28" name="Rectangle 27"/>
          <p:cNvSpPr/>
          <p:nvPr/>
        </p:nvSpPr>
        <p:spPr>
          <a:xfrm>
            <a:off x="4233672" y="3044952"/>
            <a:ext cx="7123176" cy="466344"/>
          </a:xfrm>
          <a:prstGeom prst="rect">
            <a:avLst/>
          </a:prstGeom>
          <a:solidFill>
            <a:srgbClr val="F4F8FB"/>
          </a:solidFill>
          <a:ln w="12700">
            <a:solidFill>
              <a:srgbClr val="F4F8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297680" y="3090672"/>
            <a:ext cx="4846320" cy="347472"/>
          </a:xfrm>
          <a:prstGeom prst="rect">
            <a:avLst/>
          </a:prstGeom>
          <a:noFill/>
        </p:spPr>
        <p:txBody>
          <a:bodyPr wrap="square" lIns="27432" tIns="27432" rIns="27432" bIns="27432" anchor="t">
            <a:spAutoFit/>
          </a:bodyPr>
          <a:lstStyle/>
          <a:p>
            <a:pPr algn="l"/>
            <a:r>
              <a:rPr sz="940" b="0">
                <a:solidFill>
                  <a:srgbClr val="22303E"/>
                </a:solidFill>
                <a:latin typeface="Aptos"/>
              </a:rPr>
              <a:t>2006 Chevrolet TrailBlazer • SUV • LT 4dr • SUV • 4WD (4.2L 6cy…</a:t>
            </a:r>
          </a:p>
        </p:txBody>
      </p:sp>
      <p:sp>
        <p:nvSpPr>
          <p:cNvPr id="30" name="TextBox 29"/>
          <p:cNvSpPr txBox="1"/>
          <p:nvPr/>
        </p:nvSpPr>
        <p:spPr>
          <a:xfrm>
            <a:off x="9235440" y="3090672"/>
            <a:ext cx="566928" cy="292608"/>
          </a:xfrm>
          <a:prstGeom prst="rect">
            <a:avLst/>
          </a:prstGeom>
          <a:noFill/>
        </p:spPr>
        <p:txBody>
          <a:bodyPr wrap="square" lIns="27432" tIns="27432" rIns="27432" bIns="27432" anchor="t">
            <a:spAutoFit/>
          </a:bodyPr>
          <a:lstStyle/>
          <a:p>
            <a:pPr algn="ctr"/>
            <a:r>
              <a:rPr sz="940" b="0">
                <a:solidFill>
                  <a:srgbClr val="22303E"/>
                </a:solidFill>
                <a:latin typeface="Aptos"/>
              </a:rPr>
              <a:t>2006</a:t>
            </a:r>
          </a:p>
        </p:txBody>
      </p:sp>
      <p:sp>
        <p:nvSpPr>
          <p:cNvPr id="31" name="TextBox 30"/>
          <p:cNvSpPr txBox="1"/>
          <p:nvPr/>
        </p:nvSpPr>
        <p:spPr>
          <a:xfrm>
            <a:off x="9939528" y="3090672"/>
            <a:ext cx="621792" cy="292608"/>
          </a:xfrm>
          <a:prstGeom prst="rect">
            <a:avLst/>
          </a:prstGeom>
          <a:noFill/>
        </p:spPr>
        <p:txBody>
          <a:bodyPr wrap="square" lIns="27432" tIns="27432" rIns="27432" bIns="27432" anchor="t">
            <a:spAutoFit/>
          </a:bodyPr>
          <a:lstStyle/>
          <a:p>
            <a:pPr algn="ctr"/>
            <a:r>
              <a:rPr sz="940" b="1">
                <a:solidFill>
                  <a:srgbClr val="2F6FAE"/>
                </a:solidFill>
                <a:latin typeface="Aptos"/>
              </a:rPr>
              <a:t>3.92</a:t>
            </a:r>
          </a:p>
        </p:txBody>
      </p:sp>
      <p:sp>
        <p:nvSpPr>
          <p:cNvPr id="32" name="TextBox 31"/>
          <p:cNvSpPr txBox="1"/>
          <p:nvPr/>
        </p:nvSpPr>
        <p:spPr>
          <a:xfrm>
            <a:off x="10625328" y="3090672"/>
            <a:ext cx="621792" cy="292608"/>
          </a:xfrm>
          <a:prstGeom prst="rect">
            <a:avLst/>
          </a:prstGeom>
          <a:noFill/>
        </p:spPr>
        <p:txBody>
          <a:bodyPr wrap="square" lIns="27432" tIns="27432" rIns="27432" bIns="27432" anchor="t">
            <a:spAutoFit/>
          </a:bodyPr>
          <a:lstStyle/>
          <a:p>
            <a:pPr algn="ctr"/>
            <a:r>
              <a:rPr sz="940" b="1">
                <a:solidFill>
                  <a:srgbClr val="0C7D76"/>
                </a:solidFill>
                <a:latin typeface="Aptos"/>
              </a:rPr>
              <a:t>0.879</a:t>
            </a:r>
          </a:p>
        </p:txBody>
      </p:sp>
      <p:sp>
        <p:nvSpPr>
          <p:cNvPr id="33" name="Rectangle 32"/>
          <p:cNvSpPr/>
          <p:nvPr/>
        </p:nvSpPr>
        <p:spPr>
          <a:xfrm>
            <a:off x="4233672" y="3575304"/>
            <a:ext cx="7123176" cy="466344"/>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297680" y="3621024"/>
            <a:ext cx="4846320" cy="347472"/>
          </a:xfrm>
          <a:prstGeom prst="rect">
            <a:avLst/>
          </a:prstGeom>
          <a:noFill/>
        </p:spPr>
        <p:txBody>
          <a:bodyPr wrap="square" lIns="27432" tIns="27432" rIns="27432" bIns="27432" anchor="t">
            <a:spAutoFit/>
          </a:bodyPr>
          <a:lstStyle/>
          <a:p>
            <a:pPr algn="l"/>
            <a:r>
              <a:rPr sz="940" b="0">
                <a:solidFill>
                  <a:srgbClr val="22303E"/>
                </a:solidFill>
                <a:latin typeface="Aptos"/>
              </a:rPr>
              <a:t>2004 Chevrolet TrailBlazer • SUV • LS 4WD 4dr • SUV • (4.2L 6cy…</a:t>
            </a:r>
          </a:p>
        </p:txBody>
      </p:sp>
      <p:sp>
        <p:nvSpPr>
          <p:cNvPr id="35" name="TextBox 34"/>
          <p:cNvSpPr txBox="1"/>
          <p:nvPr/>
        </p:nvSpPr>
        <p:spPr>
          <a:xfrm>
            <a:off x="9235440" y="3621024"/>
            <a:ext cx="566928" cy="292608"/>
          </a:xfrm>
          <a:prstGeom prst="rect">
            <a:avLst/>
          </a:prstGeom>
          <a:noFill/>
        </p:spPr>
        <p:txBody>
          <a:bodyPr wrap="square" lIns="27432" tIns="27432" rIns="27432" bIns="27432" anchor="t">
            <a:spAutoFit/>
          </a:bodyPr>
          <a:lstStyle/>
          <a:p>
            <a:pPr algn="ctr"/>
            <a:r>
              <a:rPr sz="940" b="0">
                <a:solidFill>
                  <a:srgbClr val="22303E"/>
                </a:solidFill>
                <a:latin typeface="Aptos"/>
              </a:rPr>
              <a:t>2004</a:t>
            </a:r>
          </a:p>
        </p:txBody>
      </p:sp>
      <p:sp>
        <p:nvSpPr>
          <p:cNvPr id="36" name="TextBox 35"/>
          <p:cNvSpPr txBox="1"/>
          <p:nvPr/>
        </p:nvSpPr>
        <p:spPr>
          <a:xfrm>
            <a:off x="9939528" y="3621024"/>
            <a:ext cx="621792" cy="292608"/>
          </a:xfrm>
          <a:prstGeom prst="rect">
            <a:avLst/>
          </a:prstGeom>
          <a:noFill/>
        </p:spPr>
        <p:txBody>
          <a:bodyPr wrap="square" lIns="27432" tIns="27432" rIns="27432" bIns="27432" anchor="t">
            <a:spAutoFit/>
          </a:bodyPr>
          <a:lstStyle/>
          <a:p>
            <a:pPr algn="ctr"/>
            <a:r>
              <a:rPr sz="940" b="1">
                <a:solidFill>
                  <a:srgbClr val="2F6FAE"/>
                </a:solidFill>
                <a:latin typeface="Aptos"/>
              </a:rPr>
              <a:t>3.92</a:t>
            </a:r>
          </a:p>
        </p:txBody>
      </p:sp>
      <p:sp>
        <p:nvSpPr>
          <p:cNvPr id="37" name="TextBox 36"/>
          <p:cNvSpPr txBox="1"/>
          <p:nvPr/>
        </p:nvSpPr>
        <p:spPr>
          <a:xfrm>
            <a:off x="10625328" y="3621024"/>
            <a:ext cx="621792" cy="292608"/>
          </a:xfrm>
          <a:prstGeom prst="rect">
            <a:avLst/>
          </a:prstGeom>
          <a:noFill/>
        </p:spPr>
        <p:txBody>
          <a:bodyPr wrap="square" lIns="27432" tIns="27432" rIns="27432" bIns="27432" anchor="t">
            <a:spAutoFit/>
          </a:bodyPr>
          <a:lstStyle/>
          <a:p>
            <a:pPr algn="ctr"/>
            <a:r>
              <a:rPr sz="940" b="1">
                <a:solidFill>
                  <a:srgbClr val="0C7D76"/>
                </a:solidFill>
                <a:latin typeface="Aptos"/>
              </a:rPr>
              <a:t>0.789</a:t>
            </a:r>
          </a:p>
        </p:txBody>
      </p:sp>
      <p:sp>
        <p:nvSpPr>
          <p:cNvPr id="38" name="Rectangle 37"/>
          <p:cNvSpPr/>
          <p:nvPr/>
        </p:nvSpPr>
        <p:spPr>
          <a:xfrm>
            <a:off x="4233672" y="4105655"/>
            <a:ext cx="7123176" cy="466344"/>
          </a:xfrm>
          <a:prstGeom prst="rect">
            <a:avLst/>
          </a:prstGeom>
          <a:solidFill>
            <a:srgbClr val="F4F8FB"/>
          </a:solidFill>
          <a:ln w="12700">
            <a:solidFill>
              <a:srgbClr val="F4F8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297680" y="4151375"/>
            <a:ext cx="4846320" cy="347472"/>
          </a:xfrm>
          <a:prstGeom prst="rect">
            <a:avLst/>
          </a:prstGeom>
          <a:noFill/>
        </p:spPr>
        <p:txBody>
          <a:bodyPr wrap="square" lIns="27432" tIns="27432" rIns="27432" bIns="27432" anchor="t">
            <a:spAutoFit/>
          </a:bodyPr>
          <a:lstStyle/>
          <a:p>
            <a:pPr algn="l"/>
            <a:r>
              <a:rPr sz="940" b="0">
                <a:solidFill>
                  <a:srgbClr val="22303E"/>
                </a:solidFill>
                <a:latin typeface="Aptos"/>
              </a:rPr>
              <a:t>2004 Chevrolet TrailBlazer • SUV • LT 4WD 4dr • SUV • (4.2L 6cy…</a:t>
            </a:r>
          </a:p>
        </p:txBody>
      </p:sp>
      <p:sp>
        <p:nvSpPr>
          <p:cNvPr id="40" name="TextBox 39"/>
          <p:cNvSpPr txBox="1"/>
          <p:nvPr/>
        </p:nvSpPr>
        <p:spPr>
          <a:xfrm>
            <a:off x="9235440" y="4151375"/>
            <a:ext cx="566928" cy="292608"/>
          </a:xfrm>
          <a:prstGeom prst="rect">
            <a:avLst/>
          </a:prstGeom>
          <a:noFill/>
        </p:spPr>
        <p:txBody>
          <a:bodyPr wrap="square" lIns="27432" tIns="27432" rIns="27432" bIns="27432" anchor="t">
            <a:spAutoFit/>
          </a:bodyPr>
          <a:lstStyle/>
          <a:p>
            <a:pPr algn="ctr"/>
            <a:r>
              <a:rPr sz="940" b="0">
                <a:solidFill>
                  <a:srgbClr val="22303E"/>
                </a:solidFill>
                <a:latin typeface="Aptos"/>
              </a:rPr>
              <a:t>2004</a:t>
            </a:r>
          </a:p>
        </p:txBody>
      </p:sp>
      <p:sp>
        <p:nvSpPr>
          <p:cNvPr id="41" name="TextBox 40"/>
          <p:cNvSpPr txBox="1"/>
          <p:nvPr/>
        </p:nvSpPr>
        <p:spPr>
          <a:xfrm>
            <a:off x="9939528" y="4151375"/>
            <a:ext cx="621792" cy="292608"/>
          </a:xfrm>
          <a:prstGeom prst="rect">
            <a:avLst/>
          </a:prstGeom>
          <a:noFill/>
        </p:spPr>
        <p:txBody>
          <a:bodyPr wrap="square" lIns="27432" tIns="27432" rIns="27432" bIns="27432" anchor="t">
            <a:spAutoFit/>
          </a:bodyPr>
          <a:lstStyle/>
          <a:p>
            <a:pPr algn="ctr"/>
            <a:r>
              <a:rPr sz="940" b="1">
                <a:solidFill>
                  <a:srgbClr val="2F6FAE"/>
                </a:solidFill>
                <a:latin typeface="Aptos"/>
              </a:rPr>
              <a:t>3.92</a:t>
            </a:r>
          </a:p>
        </p:txBody>
      </p:sp>
      <p:sp>
        <p:nvSpPr>
          <p:cNvPr id="42" name="TextBox 41"/>
          <p:cNvSpPr txBox="1"/>
          <p:nvPr/>
        </p:nvSpPr>
        <p:spPr>
          <a:xfrm>
            <a:off x="10625328" y="4151375"/>
            <a:ext cx="621792" cy="292608"/>
          </a:xfrm>
          <a:prstGeom prst="rect">
            <a:avLst/>
          </a:prstGeom>
          <a:noFill/>
        </p:spPr>
        <p:txBody>
          <a:bodyPr wrap="square" lIns="27432" tIns="27432" rIns="27432" bIns="27432" anchor="t">
            <a:spAutoFit/>
          </a:bodyPr>
          <a:lstStyle/>
          <a:p>
            <a:pPr algn="ctr"/>
            <a:r>
              <a:rPr sz="940" b="1">
                <a:solidFill>
                  <a:srgbClr val="0C7D76"/>
                </a:solidFill>
                <a:latin typeface="Aptos"/>
              </a:rPr>
              <a:t>0.752</a:t>
            </a:r>
          </a:p>
        </p:txBody>
      </p:sp>
      <p:sp>
        <p:nvSpPr>
          <p:cNvPr id="43" name="Rectangle 42"/>
          <p:cNvSpPr/>
          <p:nvPr/>
        </p:nvSpPr>
        <p:spPr>
          <a:xfrm>
            <a:off x="4233672" y="4636007"/>
            <a:ext cx="7123176" cy="466344"/>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297680" y="4681727"/>
            <a:ext cx="4846320" cy="347472"/>
          </a:xfrm>
          <a:prstGeom prst="rect">
            <a:avLst/>
          </a:prstGeom>
          <a:noFill/>
        </p:spPr>
        <p:txBody>
          <a:bodyPr wrap="square" lIns="27432" tIns="27432" rIns="27432" bIns="27432" anchor="t">
            <a:spAutoFit/>
          </a:bodyPr>
          <a:lstStyle/>
          <a:p>
            <a:pPr algn="l"/>
            <a:r>
              <a:rPr sz="940" b="0">
                <a:solidFill>
                  <a:srgbClr val="22303E"/>
                </a:solidFill>
                <a:latin typeface="Aptos"/>
              </a:rPr>
              <a:t>2005 Chevrolet TrailBlazer • SUV • LT 4WD 4dr • SUV • (4.2L 6cy…</a:t>
            </a:r>
          </a:p>
        </p:txBody>
      </p:sp>
      <p:sp>
        <p:nvSpPr>
          <p:cNvPr id="45" name="TextBox 44"/>
          <p:cNvSpPr txBox="1"/>
          <p:nvPr/>
        </p:nvSpPr>
        <p:spPr>
          <a:xfrm>
            <a:off x="9235440" y="4681727"/>
            <a:ext cx="566928" cy="292608"/>
          </a:xfrm>
          <a:prstGeom prst="rect">
            <a:avLst/>
          </a:prstGeom>
          <a:noFill/>
        </p:spPr>
        <p:txBody>
          <a:bodyPr wrap="square" lIns="27432" tIns="27432" rIns="27432" bIns="27432" anchor="t">
            <a:spAutoFit/>
          </a:bodyPr>
          <a:lstStyle/>
          <a:p>
            <a:pPr algn="ctr"/>
            <a:r>
              <a:rPr sz="940" b="0">
                <a:solidFill>
                  <a:srgbClr val="22303E"/>
                </a:solidFill>
                <a:latin typeface="Aptos"/>
              </a:rPr>
              <a:t>2005</a:t>
            </a:r>
          </a:p>
        </p:txBody>
      </p:sp>
      <p:sp>
        <p:nvSpPr>
          <p:cNvPr id="46" name="TextBox 45"/>
          <p:cNvSpPr txBox="1"/>
          <p:nvPr/>
        </p:nvSpPr>
        <p:spPr>
          <a:xfrm>
            <a:off x="9939528" y="4681727"/>
            <a:ext cx="621792" cy="292608"/>
          </a:xfrm>
          <a:prstGeom prst="rect">
            <a:avLst/>
          </a:prstGeom>
          <a:noFill/>
        </p:spPr>
        <p:txBody>
          <a:bodyPr wrap="square" lIns="27432" tIns="27432" rIns="27432" bIns="27432" anchor="t">
            <a:spAutoFit/>
          </a:bodyPr>
          <a:lstStyle/>
          <a:p>
            <a:pPr algn="ctr"/>
            <a:r>
              <a:rPr sz="940" b="1">
                <a:solidFill>
                  <a:srgbClr val="2F6FAE"/>
                </a:solidFill>
                <a:latin typeface="Aptos"/>
              </a:rPr>
              <a:t>3.92</a:t>
            </a:r>
          </a:p>
        </p:txBody>
      </p:sp>
      <p:sp>
        <p:nvSpPr>
          <p:cNvPr id="47" name="TextBox 46"/>
          <p:cNvSpPr txBox="1"/>
          <p:nvPr/>
        </p:nvSpPr>
        <p:spPr>
          <a:xfrm>
            <a:off x="10625328" y="4681727"/>
            <a:ext cx="621792" cy="292608"/>
          </a:xfrm>
          <a:prstGeom prst="rect">
            <a:avLst/>
          </a:prstGeom>
          <a:noFill/>
        </p:spPr>
        <p:txBody>
          <a:bodyPr wrap="square" lIns="27432" tIns="27432" rIns="27432" bIns="27432" anchor="t">
            <a:spAutoFit/>
          </a:bodyPr>
          <a:lstStyle/>
          <a:p>
            <a:pPr algn="ctr"/>
            <a:r>
              <a:rPr sz="940" b="1">
                <a:solidFill>
                  <a:srgbClr val="0C7D76"/>
                </a:solidFill>
                <a:latin typeface="Aptos"/>
              </a:rPr>
              <a:t>0.702</a:t>
            </a:r>
          </a:p>
        </p:txBody>
      </p:sp>
      <p:sp>
        <p:nvSpPr>
          <p:cNvPr id="48" name="Rectangle 47"/>
          <p:cNvSpPr/>
          <p:nvPr/>
        </p:nvSpPr>
        <p:spPr>
          <a:xfrm>
            <a:off x="4233672" y="5166359"/>
            <a:ext cx="7123176" cy="466344"/>
          </a:xfrm>
          <a:prstGeom prst="rect">
            <a:avLst/>
          </a:prstGeom>
          <a:solidFill>
            <a:srgbClr val="F4F8FB"/>
          </a:solidFill>
          <a:ln w="12700">
            <a:solidFill>
              <a:srgbClr val="F4F8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297680" y="5212079"/>
            <a:ext cx="4846320" cy="347472"/>
          </a:xfrm>
          <a:prstGeom prst="rect">
            <a:avLst/>
          </a:prstGeom>
          <a:noFill/>
        </p:spPr>
        <p:txBody>
          <a:bodyPr wrap="square" lIns="27432" tIns="27432" rIns="27432" bIns="27432" anchor="t">
            <a:spAutoFit/>
          </a:bodyPr>
          <a:lstStyle/>
          <a:p>
            <a:pPr algn="l"/>
            <a:r>
              <a:rPr sz="940" b="0">
                <a:solidFill>
                  <a:srgbClr val="22303E"/>
                </a:solidFill>
                <a:latin typeface="Aptos"/>
              </a:rPr>
              <a:t>2007 Chevrolet TrailBlazer • SUV • LT 4dr • SUV • 4WD (4.2L 6cy…</a:t>
            </a:r>
          </a:p>
        </p:txBody>
      </p:sp>
      <p:sp>
        <p:nvSpPr>
          <p:cNvPr id="50" name="TextBox 49"/>
          <p:cNvSpPr txBox="1"/>
          <p:nvPr/>
        </p:nvSpPr>
        <p:spPr>
          <a:xfrm>
            <a:off x="9235440" y="5212079"/>
            <a:ext cx="566928" cy="292608"/>
          </a:xfrm>
          <a:prstGeom prst="rect">
            <a:avLst/>
          </a:prstGeom>
          <a:noFill/>
        </p:spPr>
        <p:txBody>
          <a:bodyPr wrap="square" lIns="27432" tIns="27432" rIns="27432" bIns="27432" anchor="t">
            <a:spAutoFit/>
          </a:bodyPr>
          <a:lstStyle/>
          <a:p>
            <a:pPr algn="ctr"/>
            <a:r>
              <a:rPr sz="940" b="0">
                <a:solidFill>
                  <a:srgbClr val="22303E"/>
                </a:solidFill>
                <a:latin typeface="Aptos"/>
              </a:rPr>
              <a:t>2007</a:t>
            </a:r>
          </a:p>
        </p:txBody>
      </p:sp>
      <p:sp>
        <p:nvSpPr>
          <p:cNvPr id="51" name="TextBox 50"/>
          <p:cNvSpPr txBox="1"/>
          <p:nvPr/>
        </p:nvSpPr>
        <p:spPr>
          <a:xfrm>
            <a:off x="9939528" y="5212079"/>
            <a:ext cx="621792" cy="292608"/>
          </a:xfrm>
          <a:prstGeom prst="rect">
            <a:avLst/>
          </a:prstGeom>
          <a:noFill/>
        </p:spPr>
        <p:txBody>
          <a:bodyPr wrap="square" lIns="27432" tIns="27432" rIns="27432" bIns="27432" anchor="t">
            <a:spAutoFit/>
          </a:bodyPr>
          <a:lstStyle/>
          <a:p>
            <a:pPr algn="ctr"/>
            <a:r>
              <a:rPr sz="940" b="1">
                <a:solidFill>
                  <a:srgbClr val="2F6FAE"/>
                </a:solidFill>
                <a:latin typeface="Aptos"/>
              </a:rPr>
              <a:t>3.92</a:t>
            </a:r>
          </a:p>
        </p:txBody>
      </p:sp>
      <p:sp>
        <p:nvSpPr>
          <p:cNvPr id="52" name="TextBox 51"/>
          <p:cNvSpPr txBox="1"/>
          <p:nvPr/>
        </p:nvSpPr>
        <p:spPr>
          <a:xfrm>
            <a:off x="10625328" y="5212079"/>
            <a:ext cx="621792" cy="292608"/>
          </a:xfrm>
          <a:prstGeom prst="rect">
            <a:avLst/>
          </a:prstGeom>
          <a:noFill/>
        </p:spPr>
        <p:txBody>
          <a:bodyPr wrap="square" lIns="27432" tIns="27432" rIns="27432" bIns="27432" anchor="t">
            <a:spAutoFit/>
          </a:bodyPr>
          <a:lstStyle/>
          <a:p>
            <a:pPr algn="ctr"/>
            <a:r>
              <a:rPr sz="940" b="1">
                <a:solidFill>
                  <a:srgbClr val="0C7D76"/>
                </a:solidFill>
                <a:latin typeface="Aptos"/>
              </a:rPr>
              <a:t>0.683</a:t>
            </a:r>
          </a:p>
        </p:txBody>
      </p:sp>
      <p:sp>
        <p:nvSpPr>
          <p:cNvPr id="53" name="TextBox 52"/>
          <p:cNvSpPr txBox="1"/>
          <p:nvPr/>
        </p:nvSpPr>
        <p:spPr>
          <a:xfrm>
            <a:off x="4297680" y="5632704"/>
            <a:ext cx="6995160" cy="228600"/>
          </a:xfrm>
          <a:prstGeom prst="rect">
            <a:avLst/>
          </a:prstGeom>
          <a:noFill/>
        </p:spPr>
        <p:txBody>
          <a:bodyPr wrap="square" lIns="27432" tIns="27432" rIns="27432" bIns="27432" anchor="t">
            <a:spAutoFit/>
          </a:bodyPr>
          <a:lstStyle/>
          <a:p>
            <a:pPr algn="l"/>
            <a:r>
              <a:rPr sz="950" b="0">
                <a:solidFill>
                  <a:srgbClr val="5D6F80"/>
                </a:solidFill>
                <a:latin typeface="Aptos"/>
              </a:rPr>
              <a:t>The top results remain closely related while SVD subtly changes their ordering.</a:t>
            </a:r>
          </a:p>
        </p:txBody>
      </p:sp>
      <p:sp>
        <p:nvSpPr>
          <p:cNvPr id="54" name="Rectangle 53"/>
          <p:cNvSpPr/>
          <p:nvPr/>
        </p:nvSpPr>
        <p:spPr>
          <a:xfrm>
            <a:off x="0" y="6565392"/>
            <a:ext cx="12191695" cy="292608"/>
          </a:xfrm>
          <a:prstGeom prst="rect">
            <a:avLst/>
          </a:prstGeom>
          <a:solidFill>
            <a:srgbClr val="0B1F33"/>
          </a:solidFill>
          <a:ln>
            <a:solidFill>
              <a:srgbClr val="0B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530352" y="6611112"/>
            <a:ext cx="5029200" cy="155448"/>
          </a:xfrm>
          <a:prstGeom prst="rect">
            <a:avLst/>
          </a:prstGeom>
          <a:noFill/>
        </p:spPr>
        <p:txBody>
          <a:bodyPr wrap="square" lIns="27432" tIns="27432" rIns="27432" bIns="27432" anchor="t">
            <a:spAutoFit/>
          </a:bodyPr>
          <a:lstStyle/>
          <a:p>
            <a:pPr algn="l"/>
            <a:r>
              <a:rPr sz="850" b="0">
                <a:solidFill>
                  <a:srgbClr val="FFFFFF"/>
                </a:solidFill>
                <a:latin typeface="Aptos"/>
              </a:rPr>
              <a:t>DSC 201 • Project 1</a:t>
            </a:r>
          </a:p>
        </p:txBody>
      </p:sp>
      <p:sp>
        <p:nvSpPr>
          <p:cNvPr id="56" name="TextBox 55"/>
          <p:cNvSpPr txBox="1"/>
          <p:nvPr/>
        </p:nvSpPr>
        <p:spPr>
          <a:xfrm>
            <a:off x="11201400" y="6611112"/>
            <a:ext cx="411480" cy="155448"/>
          </a:xfrm>
          <a:prstGeom prst="rect">
            <a:avLst/>
          </a:prstGeom>
          <a:noFill/>
        </p:spPr>
        <p:txBody>
          <a:bodyPr wrap="square" lIns="27432" tIns="27432" rIns="27432" bIns="27432" anchor="t">
            <a:spAutoFit/>
          </a:bodyPr>
          <a:lstStyle/>
          <a:p>
            <a:pPr algn="r"/>
            <a:r>
              <a:rPr sz="850" b="1">
                <a:solidFill>
                  <a:srgbClr val="FFFFFF"/>
                </a:solidFill>
                <a:latin typeface="Aptos"/>
              </a:rPr>
              <a:t>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74320"/>
            <a:ext cx="3657600" cy="256032"/>
          </a:xfrm>
          <a:prstGeom prst="rect">
            <a:avLst/>
          </a:prstGeom>
          <a:noFill/>
        </p:spPr>
        <p:txBody>
          <a:bodyPr wrap="square" lIns="27432" tIns="27432" rIns="27432" bIns="27432" anchor="t">
            <a:spAutoFit/>
          </a:bodyPr>
          <a:lstStyle/>
          <a:p>
            <a:pPr algn="l"/>
            <a:r>
              <a:rPr sz="1000" b="1">
                <a:solidFill>
                  <a:srgbClr val="0C7D76"/>
                </a:solidFill>
                <a:latin typeface="Aptos"/>
              </a:rPr>
              <a:t>PRACTICALITY</a:t>
            </a:r>
          </a:p>
        </p:txBody>
      </p:sp>
      <p:sp>
        <p:nvSpPr>
          <p:cNvPr id="4" name="TextBox 3"/>
          <p:cNvSpPr txBox="1"/>
          <p:nvPr/>
        </p:nvSpPr>
        <p:spPr>
          <a:xfrm>
            <a:off x="566928" y="548640"/>
            <a:ext cx="10607040" cy="502920"/>
          </a:xfrm>
          <a:prstGeom prst="rect">
            <a:avLst/>
          </a:prstGeom>
          <a:noFill/>
        </p:spPr>
        <p:txBody>
          <a:bodyPr wrap="square" lIns="27432" tIns="27432" rIns="27432" bIns="27432" anchor="t">
            <a:spAutoFit/>
          </a:bodyPr>
          <a:lstStyle/>
          <a:p>
            <a:pPr algn="l"/>
            <a:r>
              <a:rPr sz="2600" b="1">
                <a:solidFill>
                  <a:srgbClr val="0B1F33"/>
                </a:solidFill>
                <a:latin typeface="Aptos Display"/>
              </a:rPr>
              <a:t>Fast queries, different coverage trade-offs</a:t>
            </a:r>
          </a:p>
        </p:txBody>
      </p:sp>
      <p:sp>
        <p:nvSpPr>
          <p:cNvPr id="5" name="TextBox 4"/>
          <p:cNvSpPr txBox="1"/>
          <p:nvPr/>
        </p:nvSpPr>
        <p:spPr>
          <a:xfrm>
            <a:off x="594360" y="1014984"/>
            <a:ext cx="10789920" cy="384048"/>
          </a:xfrm>
          <a:prstGeom prst="rect">
            <a:avLst/>
          </a:prstGeom>
          <a:noFill/>
        </p:spPr>
        <p:txBody>
          <a:bodyPr wrap="square" lIns="27432" tIns="27432" rIns="27432" bIns="27432" anchor="t">
            <a:spAutoFit/>
          </a:bodyPr>
          <a:lstStyle/>
          <a:p>
            <a:pPr algn="l"/>
            <a:r>
              <a:rPr sz="1150" b="0">
                <a:solidFill>
                  <a:srgbClr val="5D6F80"/>
                </a:solidFill>
                <a:latin typeface="Aptos"/>
              </a:rPr>
              <a:t>Sparse representations keep all three models usable on a standard Colab runtime.</a:t>
            </a:r>
          </a:p>
        </p:txBody>
      </p:sp>
      <p:sp>
        <p:nvSpPr>
          <p:cNvPr id="6" name="Oval 5"/>
          <p:cNvSpPr/>
          <p:nvPr/>
        </p:nvSpPr>
        <p:spPr>
          <a:xfrm>
            <a:off x="11201400" y="274320"/>
            <a:ext cx="411480" cy="411480"/>
          </a:xfrm>
          <a:prstGeom prst="ellipse">
            <a:avLst/>
          </a:prstGeom>
          <a:solidFill>
            <a:srgbClr val="0B1F33"/>
          </a:solidFill>
          <a:ln>
            <a:solidFill>
              <a:srgbClr val="0B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201400" y="274320"/>
            <a:ext cx="411480" cy="411480"/>
          </a:xfrm>
          <a:prstGeom prst="rect">
            <a:avLst/>
          </a:prstGeom>
          <a:noFill/>
        </p:spPr>
        <p:txBody>
          <a:bodyPr wrap="square" lIns="27432" tIns="27432" rIns="27432" bIns="27432" anchor="ctr">
            <a:spAutoFit/>
          </a:bodyPr>
          <a:lstStyle/>
          <a:p>
            <a:pPr algn="ctr"/>
            <a:r>
              <a:rPr sz="1100" b="1">
                <a:solidFill>
                  <a:srgbClr val="FFFFFF"/>
                </a:solidFill>
                <a:latin typeface="Aptos"/>
              </a:rPr>
              <a:t>9</a:t>
            </a:r>
          </a:p>
        </p:txBody>
      </p:sp>
      <p:pic>
        <p:nvPicPr>
          <p:cNvPr id="8" name="Picture 7" descr="query_latency.png"/>
          <p:cNvPicPr>
            <a:picLocks noChangeAspect="1"/>
          </p:cNvPicPr>
          <p:nvPr/>
        </p:nvPicPr>
        <p:blipFill>
          <a:blip r:embed="rId3"/>
          <a:stretch>
            <a:fillRect/>
          </a:stretch>
        </p:blipFill>
        <p:spPr>
          <a:xfrm>
            <a:off x="594360" y="1481328"/>
            <a:ext cx="5532120" cy="2788920"/>
          </a:xfrm>
          <a:prstGeom prst="rect">
            <a:avLst/>
          </a:prstGeom>
        </p:spPr>
      </p:pic>
      <p:sp>
        <p:nvSpPr>
          <p:cNvPr id="9" name="Rounded Rectangle 8"/>
          <p:cNvSpPr/>
          <p:nvPr/>
        </p:nvSpPr>
        <p:spPr>
          <a:xfrm>
            <a:off x="6510528" y="1517904"/>
            <a:ext cx="2194560" cy="1115568"/>
          </a:xfrm>
          <a:prstGeom prst="roundRect">
            <a:avLst/>
          </a:prstGeom>
          <a:solidFill>
            <a:srgbClr val="FFFFFF"/>
          </a:solidFill>
          <a:ln w="12700">
            <a:solidFill>
              <a:srgbClr val="D3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510528" y="1517904"/>
            <a:ext cx="73152" cy="1115568"/>
          </a:xfrm>
          <a:prstGeom prst="rect">
            <a:avLst/>
          </a:prstGeom>
          <a:solidFill>
            <a:srgbClr val="16B3A3"/>
          </a:solidFill>
          <a:ln w="12700">
            <a:solidFill>
              <a:srgbClr val="16B3A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739128" y="1655063"/>
            <a:ext cx="1874519" cy="411480"/>
          </a:xfrm>
          <a:prstGeom prst="rect">
            <a:avLst/>
          </a:prstGeom>
          <a:noFill/>
        </p:spPr>
        <p:txBody>
          <a:bodyPr wrap="square" lIns="27432" tIns="27432" rIns="27432" bIns="27432" anchor="t">
            <a:spAutoFit/>
          </a:bodyPr>
          <a:lstStyle/>
          <a:p>
            <a:pPr algn="l"/>
            <a:r>
              <a:rPr sz="2300" b="1">
                <a:solidFill>
                  <a:srgbClr val="0B1F33"/>
                </a:solidFill>
                <a:latin typeface="Aptos Display"/>
              </a:rPr>
              <a:t>18,287</a:t>
            </a:r>
          </a:p>
        </p:txBody>
      </p:sp>
      <p:sp>
        <p:nvSpPr>
          <p:cNvPr id="12" name="TextBox 11"/>
          <p:cNvSpPr txBox="1"/>
          <p:nvPr/>
        </p:nvSpPr>
        <p:spPr>
          <a:xfrm>
            <a:off x="6739128" y="2084831"/>
            <a:ext cx="1874519" cy="320040"/>
          </a:xfrm>
          <a:prstGeom prst="rect">
            <a:avLst/>
          </a:prstGeom>
          <a:noFill/>
        </p:spPr>
        <p:txBody>
          <a:bodyPr wrap="square" lIns="27432" tIns="27432" rIns="27432" bIns="27432" anchor="t">
            <a:spAutoFit/>
          </a:bodyPr>
          <a:lstStyle/>
          <a:p>
            <a:pPr algn="l"/>
            <a:r>
              <a:rPr sz="1050" b="1">
                <a:solidFill>
                  <a:srgbClr val="5D6F80"/>
                </a:solidFill>
                <a:latin typeface="Aptos"/>
              </a:rPr>
              <a:t>CONTENT CATALOG</a:t>
            </a:r>
          </a:p>
        </p:txBody>
      </p:sp>
      <p:sp>
        <p:nvSpPr>
          <p:cNvPr id="13" name="Rounded Rectangle 12"/>
          <p:cNvSpPr/>
          <p:nvPr/>
        </p:nvSpPr>
        <p:spPr>
          <a:xfrm>
            <a:off x="8961120" y="1517904"/>
            <a:ext cx="2194560" cy="1115568"/>
          </a:xfrm>
          <a:prstGeom prst="roundRect">
            <a:avLst/>
          </a:prstGeom>
          <a:solidFill>
            <a:srgbClr val="FFFFFF"/>
          </a:solidFill>
          <a:ln w="12700">
            <a:solidFill>
              <a:srgbClr val="D3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961120" y="1517904"/>
            <a:ext cx="73152" cy="1115568"/>
          </a:xfrm>
          <a:prstGeom prst="rect">
            <a:avLst/>
          </a:prstGeom>
          <a:solidFill>
            <a:srgbClr val="2F6FAE"/>
          </a:solidFill>
          <a:ln w="12700">
            <a:solidFill>
              <a:srgbClr val="2F6FA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89720" y="1655063"/>
            <a:ext cx="1874519" cy="411480"/>
          </a:xfrm>
          <a:prstGeom prst="rect">
            <a:avLst/>
          </a:prstGeom>
          <a:noFill/>
        </p:spPr>
        <p:txBody>
          <a:bodyPr wrap="square" lIns="27432" tIns="27432" rIns="27432" bIns="27432" anchor="t">
            <a:spAutoFit/>
          </a:bodyPr>
          <a:lstStyle/>
          <a:p>
            <a:pPr algn="l"/>
            <a:r>
              <a:rPr sz="2300" b="1">
                <a:solidFill>
                  <a:srgbClr val="0B1F33"/>
                </a:solidFill>
                <a:latin typeface="Aptos Display"/>
              </a:rPr>
              <a:t>3,384</a:t>
            </a:r>
          </a:p>
        </p:txBody>
      </p:sp>
      <p:sp>
        <p:nvSpPr>
          <p:cNvPr id="16" name="TextBox 15"/>
          <p:cNvSpPr txBox="1"/>
          <p:nvPr/>
        </p:nvSpPr>
        <p:spPr>
          <a:xfrm>
            <a:off x="9189720" y="2084831"/>
            <a:ext cx="1874519" cy="320040"/>
          </a:xfrm>
          <a:prstGeom prst="rect">
            <a:avLst/>
          </a:prstGeom>
          <a:noFill/>
        </p:spPr>
        <p:txBody>
          <a:bodyPr wrap="square" lIns="27432" tIns="27432" rIns="27432" bIns="27432" anchor="t">
            <a:spAutoFit/>
          </a:bodyPr>
          <a:lstStyle/>
          <a:p>
            <a:pPr algn="l"/>
            <a:r>
              <a:rPr sz="1050" b="1">
                <a:solidFill>
                  <a:srgbClr val="5D6F80"/>
                </a:solidFill>
                <a:latin typeface="Aptos"/>
              </a:rPr>
              <a:t>COLLABORATIVE CATALOG</a:t>
            </a:r>
          </a:p>
        </p:txBody>
      </p:sp>
      <p:sp>
        <p:nvSpPr>
          <p:cNvPr id="17" name="Rounded Rectangle 16"/>
          <p:cNvSpPr/>
          <p:nvPr/>
        </p:nvSpPr>
        <p:spPr>
          <a:xfrm>
            <a:off x="6510528" y="2889504"/>
            <a:ext cx="4645152" cy="1115568"/>
          </a:xfrm>
          <a:prstGeom prst="roundRect">
            <a:avLst/>
          </a:prstGeom>
          <a:solidFill>
            <a:srgbClr val="FFFFFF"/>
          </a:solidFill>
          <a:ln w="12700">
            <a:solidFill>
              <a:srgbClr val="D3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510528" y="2889504"/>
            <a:ext cx="73152" cy="1115568"/>
          </a:xfrm>
          <a:prstGeom prst="rect">
            <a:avLst/>
          </a:prstGeom>
          <a:solidFill>
            <a:srgbClr val="F59E0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739128" y="3026664"/>
            <a:ext cx="4325112" cy="411480"/>
          </a:xfrm>
          <a:prstGeom prst="rect">
            <a:avLst/>
          </a:prstGeom>
          <a:noFill/>
        </p:spPr>
        <p:txBody>
          <a:bodyPr wrap="square" lIns="27432" tIns="27432" rIns="27432" bIns="27432" anchor="t">
            <a:spAutoFit/>
          </a:bodyPr>
          <a:lstStyle/>
          <a:p>
            <a:pPr algn="l"/>
            <a:r>
              <a:rPr sz="2300" b="1">
                <a:solidFill>
                  <a:srgbClr val="0B1F33"/>
                </a:solidFill>
                <a:latin typeface="Aptos Display"/>
              </a:rPr>
              <a:t>9.96%</a:t>
            </a:r>
          </a:p>
        </p:txBody>
      </p:sp>
      <p:sp>
        <p:nvSpPr>
          <p:cNvPr id="20" name="TextBox 19"/>
          <p:cNvSpPr txBox="1"/>
          <p:nvPr/>
        </p:nvSpPr>
        <p:spPr>
          <a:xfrm>
            <a:off x="6739128" y="3456432"/>
            <a:ext cx="4325112" cy="320040"/>
          </a:xfrm>
          <a:prstGeom prst="rect">
            <a:avLst/>
          </a:prstGeom>
          <a:noFill/>
        </p:spPr>
        <p:txBody>
          <a:bodyPr wrap="square" lIns="27432" tIns="27432" rIns="27432" bIns="27432" anchor="t">
            <a:spAutoFit/>
          </a:bodyPr>
          <a:lstStyle/>
          <a:p>
            <a:pPr algn="l"/>
            <a:r>
              <a:rPr sz="1050" b="1">
                <a:solidFill>
                  <a:srgbClr val="5D6F80"/>
                </a:solidFill>
                <a:latin typeface="Aptos"/>
              </a:rPr>
              <a:t>TOP-10 COVERAGE / 50 USERS</a:t>
            </a:r>
          </a:p>
        </p:txBody>
      </p:sp>
      <p:sp>
        <p:nvSpPr>
          <p:cNvPr id="21" name="TextBox 20"/>
          <p:cNvSpPr txBox="1"/>
          <p:nvPr/>
        </p:nvSpPr>
        <p:spPr>
          <a:xfrm>
            <a:off x="731520" y="4626864"/>
            <a:ext cx="1051560" cy="228600"/>
          </a:xfrm>
          <a:prstGeom prst="rect">
            <a:avLst/>
          </a:prstGeom>
          <a:noFill/>
        </p:spPr>
        <p:txBody>
          <a:bodyPr wrap="square" lIns="27432" tIns="27432" rIns="27432" bIns="27432" anchor="t">
            <a:spAutoFit/>
          </a:bodyPr>
          <a:lstStyle/>
          <a:p>
            <a:pPr algn="l"/>
            <a:r>
              <a:rPr sz="950" b="1">
                <a:solidFill>
                  <a:srgbClr val="5D6F80"/>
                </a:solidFill>
                <a:latin typeface="Aptos"/>
              </a:rPr>
              <a:t>MODEL</a:t>
            </a:r>
          </a:p>
        </p:txBody>
      </p:sp>
      <p:sp>
        <p:nvSpPr>
          <p:cNvPr id="22" name="TextBox 21"/>
          <p:cNvSpPr txBox="1"/>
          <p:nvPr/>
        </p:nvSpPr>
        <p:spPr>
          <a:xfrm>
            <a:off x="2011680" y="4626864"/>
            <a:ext cx="1828800" cy="228600"/>
          </a:xfrm>
          <a:prstGeom prst="rect">
            <a:avLst/>
          </a:prstGeom>
          <a:noFill/>
        </p:spPr>
        <p:txBody>
          <a:bodyPr wrap="square" lIns="27432" tIns="27432" rIns="27432" bIns="27432" anchor="t">
            <a:spAutoFit/>
          </a:bodyPr>
          <a:lstStyle/>
          <a:p>
            <a:pPr algn="l"/>
            <a:r>
              <a:rPr sz="950" b="1">
                <a:solidFill>
                  <a:srgbClr val="5D6F80"/>
                </a:solidFill>
                <a:latin typeface="Aptos"/>
              </a:rPr>
              <a:t>INPUT</a:t>
            </a:r>
          </a:p>
        </p:txBody>
      </p:sp>
      <p:sp>
        <p:nvSpPr>
          <p:cNvPr id="23" name="TextBox 22"/>
          <p:cNvSpPr txBox="1"/>
          <p:nvPr/>
        </p:nvSpPr>
        <p:spPr>
          <a:xfrm>
            <a:off x="4160520" y="4626864"/>
            <a:ext cx="2286000" cy="228600"/>
          </a:xfrm>
          <a:prstGeom prst="rect">
            <a:avLst/>
          </a:prstGeom>
          <a:noFill/>
        </p:spPr>
        <p:txBody>
          <a:bodyPr wrap="square" lIns="27432" tIns="27432" rIns="27432" bIns="27432" anchor="t">
            <a:spAutoFit/>
          </a:bodyPr>
          <a:lstStyle/>
          <a:p>
            <a:pPr algn="l"/>
            <a:r>
              <a:rPr sz="950" b="1">
                <a:solidFill>
                  <a:srgbClr val="5D6F80"/>
                </a:solidFill>
                <a:latin typeface="Aptos"/>
              </a:rPr>
              <a:t>STRENGTH</a:t>
            </a:r>
          </a:p>
        </p:txBody>
      </p:sp>
      <p:sp>
        <p:nvSpPr>
          <p:cNvPr id="24" name="TextBox 23"/>
          <p:cNvSpPr txBox="1"/>
          <p:nvPr/>
        </p:nvSpPr>
        <p:spPr>
          <a:xfrm>
            <a:off x="7479792" y="4626864"/>
            <a:ext cx="2834640" cy="228600"/>
          </a:xfrm>
          <a:prstGeom prst="rect">
            <a:avLst/>
          </a:prstGeom>
          <a:noFill/>
        </p:spPr>
        <p:txBody>
          <a:bodyPr wrap="square" lIns="27432" tIns="27432" rIns="27432" bIns="27432" anchor="t">
            <a:spAutoFit/>
          </a:bodyPr>
          <a:lstStyle/>
          <a:p>
            <a:pPr algn="l"/>
            <a:r>
              <a:rPr sz="950" b="1">
                <a:solidFill>
                  <a:srgbClr val="5D6F80"/>
                </a:solidFill>
                <a:latin typeface="Aptos"/>
              </a:rPr>
              <a:t>LIMITATION</a:t>
            </a:r>
          </a:p>
        </p:txBody>
      </p:sp>
      <p:sp>
        <p:nvSpPr>
          <p:cNvPr id="25" name="Rectangle 24"/>
          <p:cNvSpPr/>
          <p:nvPr/>
        </p:nvSpPr>
        <p:spPr>
          <a:xfrm>
            <a:off x="621792" y="4910328"/>
            <a:ext cx="10652760" cy="384048"/>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49808" y="4937760"/>
            <a:ext cx="987552" cy="256032"/>
          </a:xfrm>
          <a:prstGeom prst="rect">
            <a:avLst/>
          </a:prstGeom>
          <a:noFill/>
        </p:spPr>
        <p:txBody>
          <a:bodyPr wrap="square" lIns="27432" tIns="27432" rIns="27432" bIns="27432" anchor="t">
            <a:spAutoFit/>
          </a:bodyPr>
          <a:lstStyle/>
          <a:p>
            <a:pPr algn="l"/>
            <a:r>
              <a:rPr sz="1050" b="1">
                <a:solidFill>
                  <a:srgbClr val="16B3A3"/>
                </a:solidFill>
                <a:latin typeface="Aptos"/>
              </a:rPr>
              <a:t>Content</a:t>
            </a:r>
          </a:p>
        </p:txBody>
      </p:sp>
      <p:sp>
        <p:nvSpPr>
          <p:cNvPr id="27" name="TextBox 26"/>
          <p:cNvSpPr txBox="1"/>
          <p:nvPr/>
        </p:nvSpPr>
        <p:spPr>
          <a:xfrm>
            <a:off x="2011680" y="4937760"/>
            <a:ext cx="1901952" cy="256032"/>
          </a:xfrm>
          <a:prstGeom prst="rect">
            <a:avLst/>
          </a:prstGeom>
          <a:noFill/>
        </p:spPr>
        <p:txBody>
          <a:bodyPr wrap="square" lIns="27432" tIns="27432" rIns="27432" bIns="27432" anchor="t">
            <a:spAutoFit/>
          </a:bodyPr>
          <a:lstStyle/>
          <a:p>
            <a:pPr algn="l"/>
            <a:r>
              <a:rPr sz="1019" b="0">
                <a:solidFill>
                  <a:srgbClr val="22303E"/>
                </a:solidFill>
                <a:latin typeface="Aptos"/>
              </a:rPr>
              <a:t>Any supported vehicle</a:t>
            </a:r>
          </a:p>
        </p:txBody>
      </p:sp>
      <p:sp>
        <p:nvSpPr>
          <p:cNvPr id="28" name="TextBox 27"/>
          <p:cNvSpPr txBox="1"/>
          <p:nvPr/>
        </p:nvSpPr>
        <p:spPr>
          <a:xfrm>
            <a:off x="4160520" y="4937760"/>
            <a:ext cx="2788920" cy="256032"/>
          </a:xfrm>
          <a:prstGeom prst="rect">
            <a:avLst/>
          </a:prstGeom>
          <a:noFill/>
        </p:spPr>
        <p:txBody>
          <a:bodyPr wrap="square" lIns="27432" tIns="27432" rIns="27432" bIns="27432" anchor="t">
            <a:spAutoFit/>
          </a:bodyPr>
          <a:lstStyle/>
          <a:p>
            <a:pPr algn="l"/>
            <a:r>
              <a:rPr sz="1019" b="0">
                <a:solidFill>
                  <a:srgbClr val="22303E"/>
                </a:solidFill>
                <a:latin typeface="Aptos"/>
              </a:rPr>
              <a:t>Explainable / cold-start item</a:t>
            </a:r>
          </a:p>
        </p:txBody>
      </p:sp>
      <p:sp>
        <p:nvSpPr>
          <p:cNvPr id="29" name="TextBox 28"/>
          <p:cNvSpPr txBox="1"/>
          <p:nvPr/>
        </p:nvSpPr>
        <p:spPr>
          <a:xfrm>
            <a:off x="7479792" y="4937760"/>
            <a:ext cx="3429000" cy="256032"/>
          </a:xfrm>
          <a:prstGeom prst="rect">
            <a:avLst/>
          </a:prstGeom>
          <a:noFill/>
        </p:spPr>
        <p:txBody>
          <a:bodyPr wrap="square" lIns="27432" tIns="27432" rIns="27432" bIns="27432" anchor="t">
            <a:spAutoFit/>
          </a:bodyPr>
          <a:lstStyle/>
          <a:p>
            <a:pPr algn="l"/>
            <a:r>
              <a:rPr sz="1019" b="0">
                <a:solidFill>
                  <a:srgbClr val="22303E"/>
                </a:solidFill>
                <a:latin typeface="Aptos"/>
              </a:rPr>
              <a:t>No personal signal</a:t>
            </a:r>
          </a:p>
        </p:txBody>
      </p:sp>
      <p:sp>
        <p:nvSpPr>
          <p:cNvPr id="30" name="Rectangle 29"/>
          <p:cNvSpPr/>
          <p:nvPr/>
        </p:nvSpPr>
        <p:spPr>
          <a:xfrm>
            <a:off x="621792" y="5349240"/>
            <a:ext cx="10652760" cy="384048"/>
          </a:xfrm>
          <a:prstGeom prst="rect">
            <a:avLst/>
          </a:prstGeom>
          <a:solidFill>
            <a:srgbClr val="F4F8FB"/>
          </a:solidFill>
          <a:ln w="12700">
            <a:solidFill>
              <a:srgbClr val="F4F8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49808" y="5376672"/>
            <a:ext cx="987552" cy="256032"/>
          </a:xfrm>
          <a:prstGeom prst="rect">
            <a:avLst/>
          </a:prstGeom>
          <a:noFill/>
        </p:spPr>
        <p:txBody>
          <a:bodyPr wrap="square" lIns="27432" tIns="27432" rIns="27432" bIns="27432" anchor="t">
            <a:spAutoFit/>
          </a:bodyPr>
          <a:lstStyle/>
          <a:p>
            <a:pPr algn="l"/>
            <a:r>
              <a:rPr sz="1050" b="1">
                <a:solidFill>
                  <a:srgbClr val="2F6FAE"/>
                </a:solidFill>
                <a:latin typeface="Aptos"/>
              </a:rPr>
              <a:t>SVD</a:t>
            </a:r>
          </a:p>
        </p:txBody>
      </p:sp>
      <p:sp>
        <p:nvSpPr>
          <p:cNvPr id="32" name="TextBox 31"/>
          <p:cNvSpPr txBox="1"/>
          <p:nvPr/>
        </p:nvSpPr>
        <p:spPr>
          <a:xfrm>
            <a:off x="2011680" y="5376672"/>
            <a:ext cx="1901952" cy="256032"/>
          </a:xfrm>
          <a:prstGeom prst="rect">
            <a:avLst/>
          </a:prstGeom>
          <a:noFill/>
        </p:spPr>
        <p:txBody>
          <a:bodyPr wrap="square" lIns="27432" tIns="27432" rIns="27432" bIns="27432" anchor="t">
            <a:spAutoFit/>
          </a:bodyPr>
          <a:lstStyle/>
          <a:p>
            <a:pPr algn="l"/>
            <a:r>
              <a:rPr sz="1019" b="0">
                <a:solidFill>
                  <a:srgbClr val="22303E"/>
                </a:solidFill>
                <a:latin typeface="Aptos"/>
              </a:rPr>
              <a:t>Repeat-user ratings</a:t>
            </a:r>
          </a:p>
        </p:txBody>
      </p:sp>
      <p:sp>
        <p:nvSpPr>
          <p:cNvPr id="33" name="TextBox 32"/>
          <p:cNvSpPr txBox="1"/>
          <p:nvPr/>
        </p:nvSpPr>
        <p:spPr>
          <a:xfrm>
            <a:off x="4160520" y="5376672"/>
            <a:ext cx="2788920" cy="256032"/>
          </a:xfrm>
          <a:prstGeom prst="rect">
            <a:avLst/>
          </a:prstGeom>
          <a:noFill/>
        </p:spPr>
        <p:txBody>
          <a:bodyPr wrap="square" lIns="27432" tIns="27432" rIns="27432" bIns="27432" anchor="t">
            <a:spAutoFit/>
          </a:bodyPr>
          <a:lstStyle/>
          <a:p>
            <a:pPr algn="l"/>
            <a:r>
              <a:rPr sz="1019" b="0">
                <a:solidFill>
                  <a:srgbClr val="22303E"/>
                </a:solidFill>
                <a:latin typeface="Aptos"/>
              </a:rPr>
              <a:t>Very fast personalization</a:t>
            </a:r>
          </a:p>
        </p:txBody>
      </p:sp>
      <p:sp>
        <p:nvSpPr>
          <p:cNvPr id="34" name="TextBox 33"/>
          <p:cNvSpPr txBox="1"/>
          <p:nvPr/>
        </p:nvSpPr>
        <p:spPr>
          <a:xfrm>
            <a:off x="7479792" y="5376672"/>
            <a:ext cx="3429000" cy="256032"/>
          </a:xfrm>
          <a:prstGeom prst="rect">
            <a:avLst/>
          </a:prstGeom>
          <a:noFill/>
        </p:spPr>
        <p:txBody>
          <a:bodyPr wrap="square" lIns="27432" tIns="27432" rIns="27432" bIns="27432" anchor="t">
            <a:spAutoFit/>
          </a:bodyPr>
          <a:lstStyle/>
          <a:p>
            <a:pPr algn="l"/>
            <a:r>
              <a:rPr sz="1019" b="0">
                <a:solidFill>
                  <a:srgbClr val="22303E"/>
                </a:solidFill>
                <a:latin typeface="Aptos"/>
              </a:rPr>
              <a:t>Sparse users and items</a:t>
            </a:r>
          </a:p>
        </p:txBody>
      </p:sp>
      <p:sp>
        <p:nvSpPr>
          <p:cNvPr id="35" name="Rectangle 34"/>
          <p:cNvSpPr/>
          <p:nvPr/>
        </p:nvSpPr>
        <p:spPr>
          <a:xfrm>
            <a:off x="621792" y="5788152"/>
            <a:ext cx="10652760" cy="384048"/>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49808" y="5815584"/>
            <a:ext cx="987552" cy="256032"/>
          </a:xfrm>
          <a:prstGeom prst="rect">
            <a:avLst/>
          </a:prstGeom>
          <a:noFill/>
        </p:spPr>
        <p:txBody>
          <a:bodyPr wrap="square" lIns="27432" tIns="27432" rIns="27432" bIns="27432" anchor="t">
            <a:spAutoFit/>
          </a:bodyPr>
          <a:lstStyle/>
          <a:p>
            <a:pPr algn="l"/>
            <a:r>
              <a:rPr sz="1050" b="1">
                <a:solidFill>
                  <a:srgbClr val="F59E0B"/>
                </a:solidFill>
                <a:latin typeface="Aptos"/>
              </a:rPr>
              <a:t>Hybrid</a:t>
            </a:r>
          </a:p>
        </p:txBody>
      </p:sp>
      <p:sp>
        <p:nvSpPr>
          <p:cNvPr id="37" name="TextBox 36"/>
          <p:cNvSpPr txBox="1"/>
          <p:nvPr/>
        </p:nvSpPr>
        <p:spPr>
          <a:xfrm>
            <a:off x="2011680" y="5815584"/>
            <a:ext cx="1901952" cy="256032"/>
          </a:xfrm>
          <a:prstGeom prst="rect">
            <a:avLst/>
          </a:prstGeom>
          <a:noFill/>
        </p:spPr>
        <p:txBody>
          <a:bodyPr wrap="square" lIns="27432" tIns="27432" rIns="27432" bIns="27432" anchor="t">
            <a:spAutoFit/>
          </a:bodyPr>
          <a:lstStyle/>
          <a:p>
            <a:pPr algn="l"/>
            <a:r>
              <a:rPr sz="1019" b="0">
                <a:solidFill>
                  <a:srgbClr val="22303E"/>
                </a:solidFill>
                <a:latin typeface="Aptos"/>
              </a:rPr>
              <a:t>Vehicle + user</a:t>
            </a:r>
          </a:p>
        </p:txBody>
      </p:sp>
      <p:sp>
        <p:nvSpPr>
          <p:cNvPr id="38" name="TextBox 37"/>
          <p:cNvSpPr txBox="1"/>
          <p:nvPr/>
        </p:nvSpPr>
        <p:spPr>
          <a:xfrm>
            <a:off x="4160520" y="5815584"/>
            <a:ext cx="2788920" cy="256032"/>
          </a:xfrm>
          <a:prstGeom prst="rect">
            <a:avLst/>
          </a:prstGeom>
          <a:noFill/>
        </p:spPr>
        <p:txBody>
          <a:bodyPr wrap="square" lIns="27432" tIns="27432" rIns="27432" bIns="27432" anchor="t">
            <a:spAutoFit/>
          </a:bodyPr>
          <a:lstStyle/>
          <a:p>
            <a:pPr algn="l"/>
            <a:r>
              <a:rPr sz="1019" b="0">
                <a:solidFill>
                  <a:srgbClr val="22303E"/>
                </a:solidFill>
                <a:latin typeface="Aptos"/>
              </a:rPr>
              <a:t>Best practical balance</a:t>
            </a:r>
          </a:p>
        </p:txBody>
      </p:sp>
      <p:sp>
        <p:nvSpPr>
          <p:cNvPr id="39" name="TextBox 38"/>
          <p:cNvSpPr txBox="1"/>
          <p:nvPr/>
        </p:nvSpPr>
        <p:spPr>
          <a:xfrm>
            <a:off x="7479792" y="5815584"/>
            <a:ext cx="3429000" cy="256032"/>
          </a:xfrm>
          <a:prstGeom prst="rect">
            <a:avLst/>
          </a:prstGeom>
          <a:noFill/>
        </p:spPr>
        <p:txBody>
          <a:bodyPr wrap="square" lIns="27432" tIns="27432" rIns="27432" bIns="27432" anchor="t">
            <a:spAutoFit/>
          </a:bodyPr>
          <a:lstStyle/>
          <a:p>
            <a:pPr algn="l"/>
            <a:r>
              <a:rPr sz="1019" b="0">
                <a:solidFill>
                  <a:srgbClr val="22303E"/>
                </a:solidFill>
                <a:latin typeface="Aptos"/>
              </a:rPr>
              <a:t>Two models + weight choice</a:t>
            </a:r>
          </a:p>
        </p:txBody>
      </p:sp>
      <p:sp>
        <p:nvSpPr>
          <p:cNvPr id="40" name="Rectangle 39"/>
          <p:cNvSpPr/>
          <p:nvPr/>
        </p:nvSpPr>
        <p:spPr>
          <a:xfrm>
            <a:off x="0" y="6565392"/>
            <a:ext cx="12191695" cy="292608"/>
          </a:xfrm>
          <a:prstGeom prst="rect">
            <a:avLst/>
          </a:prstGeom>
          <a:solidFill>
            <a:srgbClr val="0B1F33"/>
          </a:solidFill>
          <a:ln>
            <a:solidFill>
              <a:srgbClr val="0B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30352" y="6611112"/>
            <a:ext cx="5029200" cy="155448"/>
          </a:xfrm>
          <a:prstGeom prst="rect">
            <a:avLst/>
          </a:prstGeom>
          <a:noFill/>
        </p:spPr>
        <p:txBody>
          <a:bodyPr wrap="square" lIns="27432" tIns="27432" rIns="27432" bIns="27432" anchor="t">
            <a:spAutoFit/>
          </a:bodyPr>
          <a:lstStyle/>
          <a:p>
            <a:pPr algn="l"/>
            <a:r>
              <a:rPr sz="850" b="0">
                <a:solidFill>
                  <a:srgbClr val="FFFFFF"/>
                </a:solidFill>
                <a:latin typeface="Aptos"/>
              </a:rPr>
              <a:t>DSC 201 • Project 1</a:t>
            </a:r>
          </a:p>
        </p:txBody>
      </p:sp>
      <p:sp>
        <p:nvSpPr>
          <p:cNvPr id="42" name="TextBox 41"/>
          <p:cNvSpPr txBox="1"/>
          <p:nvPr/>
        </p:nvSpPr>
        <p:spPr>
          <a:xfrm>
            <a:off x="11201400" y="6611112"/>
            <a:ext cx="411480" cy="155448"/>
          </a:xfrm>
          <a:prstGeom prst="rect">
            <a:avLst/>
          </a:prstGeom>
          <a:noFill/>
        </p:spPr>
        <p:txBody>
          <a:bodyPr wrap="square" lIns="27432" tIns="27432" rIns="27432" bIns="27432" anchor="t">
            <a:spAutoFit/>
          </a:bodyPr>
          <a:lstStyle/>
          <a:p>
            <a:pPr algn="r"/>
            <a:r>
              <a:rPr sz="850" b="1">
                <a:solidFill>
                  <a:srgbClr val="FFFFFF"/>
                </a:solidFill>
                <a:latin typeface="Aptos"/>
              </a:rPr>
              <a:t>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8FB"/>
          </a:solidFill>
          <a:ln w="12700">
            <a:solidFill>
              <a:srgbClr val="F4F8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74320"/>
            <a:ext cx="3657600" cy="256032"/>
          </a:xfrm>
          <a:prstGeom prst="rect">
            <a:avLst/>
          </a:prstGeom>
          <a:noFill/>
        </p:spPr>
        <p:txBody>
          <a:bodyPr wrap="square" lIns="27432" tIns="27432" rIns="27432" bIns="27432" anchor="t">
            <a:spAutoFit/>
          </a:bodyPr>
          <a:lstStyle/>
          <a:p>
            <a:pPr algn="l"/>
            <a:r>
              <a:rPr sz="1000" b="1">
                <a:solidFill>
                  <a:srgbClr val="0C7D76"/>
                </a:solidFill>
                <a:latin typeface="Aptos"/>
              </a:rPr>
              <a:t>RESPONSIBLE INTERPRETATION</a:t>
            </a:r>
          </a:p>
        </p:txBody>
      </p:sp>
      <p:sp>
        <p:nvSpPr>
          <p:cNvPr id="4" name="TextBox 3"/>
          <p:cNvSpPr txBox="1"/>
          <p:nvPr/>
        </p:nvSpPr>
        <p:spPr>
          <a:xfrm>
            <a:off x="566928" y="548640"/>
            <a:ext cx="10607040" cy="502920"/>
          </a:xfrm>
          <a:prstGeom prst="rect">
            <a:avLst/>
          </a:prstGeom>
          <a:noFill/>
        </p:spPr>
        <p:txBody>
          <a:bodyPr wrap="square" lIns="27432" tIns="27432" rIns="27432" bIns="27432" anchor="t">
            <a:spAutoFit/>
          </a:bodyPr>
          <a:lstStyle/>
          <a:p>
            <a:pPr algn="l"/>
            <a:r>
              <a:rPr sz="2600" b="1">
                <a:solidFill>
                  <a:srgbClr val="0B1F33"/>
                </a:solidFill>
                <a:latin typeface="Aptos Display"/>
              </a:rPr>
              <a:t>What the models can—and cannot—claim</a:t>
            </a:r>
          </a:p>
        </p:txBody>
      </p:sp>
      <p:sp>
        <p:nvSpPr>
          <p:cNvPr id="5" name="TextBox 4"/>
          <p:cNvSpPr txBox="1"/>
          <p:nvPr/>
        </p:nvSpPr>
        <p:spPr>
          <a:xfrm>
            <a:off x="594360" y="1014984"/>
            <a:ext cx="10789920" cy="384048"/>
          </a:xfrm>
          <a:prstGeom prst="rect">
            <a:avLst/>
          </a:prstGeom>
          <a:noFill/>
        </p:spPr>
        <p:txBody>
          <a:bodyPr wrap="square" lIns="27432" tIns="27432" rIns="27432" bIns="27432" anchor="t">
            <a:spAutoFit/>
          </a:bodyPr>
          <a:lstStyle/>
          <a:p>
            <a:pPr algn="l"/>
            <a:r>
              <a:rPr sz="1150" b="0">
                <a:solidFill>
                  <a:srgbClr val="5D6F80"/>
                </a:solidFill>
                <a:latin typeface="Aptos"/>
              </a:rPr>
              <a:t>Recommendation quality depends on data coverage, identity quality, and the evaluation target.</a:t>
            </a:r>
          </a:p>
        </p:txBody>
      </p:sp>
      <p:sp>
        <p:nvSpPr>
          <p:cNvPr id="6" name="Oval 5"/>
          <p:cNvSpPr/>
          <p:nvPr/>
        </p:nvSpPr>
        <p:spPr>
          <a:xfrm>
            <a:off x="11201400" y="274320"/>
            <a:ext cx="411480" cy="411480"/>
          </a:xfrm>
          <a:prstGeom prst="ellipse">
            <a:avLst/>
          </a:prstGeom>
          <a:solidFill>
            <a:srgbClr val="0B1F33"/>
          </a:solidFill>
          <a:ln>
            <a:solidFill>
              <a:srgbClr val="0B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201400" y="274320"/>
            <a:ext cx="411480" cy="411480"/>
          </a:xfrm>
          <a:prstGeom prst="rect">
            <a:avLst/>
          </a:prstGeom>
          <a:noFill/>
        </p:spPr>
        <p:txBody>
          <a:bodyPr wrap="square" lIns="27432" tIns="27432" rIns="27432" bIns="27432" anchor="ctr">
            <a:spAutoFit/>
          </a:bodyPr>
          <a:lstStyle/>
          <a:p>
            <a:pPr algn="ctr"/>
            <a:r>
              <a:rPr sz="1100" b="1">
                <a:solidFill>
                  <a:srgbClr val="FFFFFF"/>
                </a:solidFill>
                <a:latin typeface="Aptos"/>
              </a:rPr>
              <a:t>10</a:t>
            </a:r>
          </a:p>
        </p:txBody>
      </p:sp>
      <p:sp>
        <p:nvSpPr>
          <p:cNvPr id="8" name="Rounded Rectangle 7"/>
          <p:cNvSpPr/>
          <p:nvPr/>
        </p:nvSpPr>
        <p:spPr>
          <a:xfrm>
            <a:off x="640080" y="1536192"/>
            <a:ext cx="5440680" cy="3520440"/>
          </a:xfrm>
          <a:prstGeom prst="roundRect">
            <a:avLst/>
          </a:prstGeom>
          <a:solidFill>
            <a:srgbClr val="FFFFFF"/>
          </a:solidFill>
          <a:ln w="12700">
            <a:solidFill>
              <a:srgbClr val="D3DEE7"/>
            </a:solidFill>
          </a:ln>
        </p:spPr>
        <p:style>
          <a:lnRef idx="1">
            <a:schemeClr val="accent1"/>
          </a:lnRef>
          <a:fillRef idx="3">
            <a:schemeClr val="accent1"/>
          </a:fillRef>
          <a:effectRef idx="2">
            <a:schemeClr val="accent1"/>
          </a:effectRef>
          <a:fontRef idx="minor">
            <a:schemeClr val="lt1"/>
          </a:fontRef>
        </p:style>
        <p:txBody>
          <a:bodyPr wrap="square" lIns="201168" tIns="137160" rIns="164592" bIns="109728" rtlCol="0" anchor="ctr"/>
          <a:lstStyle/>
          <a:p>
            <a:pPr algn="ctr">
              <a:spcAft>
                <a:spcPts val="800"/>
              </a:spcAft>
            </a:pPr>
            <a:r>
              <a:rPr sz="1100" b="1">
                <a:solidFill>
                  <a:srgbClr val="DC4242"/>
                </a:solidFill>
                <a:latin typeface="Aptos"/>
              </a:rPr>
              <a:t>CURRENT LIMITATIONS</a:t>
            </a:r>
          </a:p>
          <a:p>
            <a:pPr>
              <a:spcAft>
                <a:spcPts val="700"/>
              </a:spcAft>
            </a:pPr>
            <a:r>
              <a:rPr sz="1300" b="0">
                <a:solidFill>
                  <a:srgbClr val="22303E"/>
                </a:solidFill>
                <a:latin typeface="Aptos"/>
              </a:rPr>
              <a:t>•  Median user has only one review</a:t>
            </a:r>
          </a:p>
          <a:p>
            <a:pPr>
              <a:spcAft>
                <a:spcPts val="700"/>
              </a:spcAft>
            </a:pPr>
            <a:r>
              <a:rPr sz="1300" b="0">
                <a:solidFill>
                  <a:srgbClr val="22303E"/>
                </a:solidFill>
                <a:latin typeface="Aptos"/>
              </a:rPr>
              <a:t>•  Author names are imperfect account identifiers</a:t>
            </a:r>
          </a:p>
          <a:p>
            <a:pPr>
              <a:spcAft>
                <a:spcPts val="700"/>
              </a:spcAft>
            </a:pPr>
            <a:r>
              <a:rPr sz="1300" b="0">
                <a:solidFill>
                  <a:srgbClr val="22303E"/>
                </a:solidFill>
                <a:latin typeface="Aptos"/>
              </a:rPr>
              <a:t>•  Ratings are strongly concentrated near 4–5</a:t>
            </a:r>
          </a:p>
          <a:p>
            <a:pPr>
              <a:spcAft>
                <a:spcPts val="700"/>
              </a:spcAft>
            </a:pPr>
            <a:r>
              <a:rPr sz="1300" b="0">
                <a:solidFill>
                  <a:srgbClr val="22303E"/>
                </a:solidFill>
                <a:latin typeface="Aptos"/>
              </a:rPr>
              <a:t>•  K-core filtering improves reliability but removes rare vehicles</a:t>
            </a:r>
          </a:p>
          <a:p>
            <a:pPr>
              <a:spcAft>
                <a:spcPts val="0"/>
              </a:spcAft>
            </a:pPr>
            <a:r>
              <a:rPr sz="1300" b="0">
                <a:solidFill>
                  <a:srgbClr val="22303E"/>
                </a:solidFill>
                <a:latin typeface="Aptos"/>
              </a:rPr>
              <a:t>•  RMSE does not measure diversity or user satisfaction</a:t>
            </a:r>
          </a:p>
        </p:txBody>
      </p:sp>
      <p:sp>
        <p:nvSpPr>
          <p:cNvPr id="9" name="Rounded Rectangle 8"/>
          <p:cNvSpPr/>
          <p:nvPr/>
        </p:nvSpPr>
        <p:spPr>
          <a:xfrm>
            <a:off x="6263640" y="1536192"/>
            <a:ext cx="5285232" cy="3520440"/>
          </a:xfrm>
          <a:prstGeom prst="roundRect">
            <a:avLst/>
          </a:prstGeom>
          <a:solidFill>
            <a:srgbClr val="FFFFFF"/>
          </a:solidFill>
          <a:ln w="12700">
            <a:solidFill>
              <a:srgbClr val="D3DEE7"/>
            </a:solidFill>
          </a:ln>
        </p:spPr>
        <p:style>
          <a:lnRef idx="1">
            <a:schemeClr val="accent1"/>
          </a:lnRef>
          <a:fillRef idx="3">
            <a:schemeClr val="accent1"/>
          </a:fillRef>
          <a:effectRef idx="2">
            <a:schemeClr val="accent1"/>
          </a:effectRef>
          <a:fontRef idx="minor">
            <a:schemeClr val="lt1"/>
          </a:fontRef>
        </p:style>
        <p:txBody>
          <a:bodyPr wrap="square" lIns="201168" tIns="137160" rIns="164592" bIns="109728" rtlCol="0" anchor="ctr"/>
          <a:lstStyle/>
          <a:p>
            <a:pPr algn="ctr">
              <a:spcAft>
                <a:spcPts val="800"/>
              </a:spcAft>
            </a:pPr>
            <a:r>
              <a:rPr sz="1100" b="1">
                <a:solidFill>
                  <a:srgbClr val="0C7D76"/>
                </a:solidFill>
                <a:latin typeface="Aptos"/>
              </a:rPr>
              <a:t>NEXT ITERATION</a:t>
            </a:r>
          </a:p>
          <a:p>
            <a:pPr>
              <a:spcAft>
                <a:spcPts val="700"/>
              </a:spcAft>
            </a:pPr>
            <a:r>
              <a:rPr sz="1300" b="0">
                <a:solidFill>
                  <a:srgbClr val="22303E"/>
                </a:solidFill>
                <a:latin typeface="Aptos"/>
              </a:rPr>
              <a:t>•  Add explicit onboarding preferences for new users</a:t>
            </a:r>
          </a:p>
          <a:p>
            <a:pPr>
              <a:spcAft>
                <a:spcPts val="700"/>
              </a:spcAft>
            </a:pPr>
            <a:r>
              <a:rPr sz="1300" b="0">
                <a:solidFill>
                  <a:srgbClr val="22303E"/>
                </a:solidFill>
                <a:latin typeface="Aptos"/>
              </a:rPr>
              <a:t>•  Tune hybrid weights using validation or user studies</a:t>
            </a:r>
          </a:p>
          <a:p>
            <a:pPr>
              <a:spcAft>
                <a:spcPts val="700"/>
              </a:spcAft>
            </a:pPr>
            <a:r>
              <a:rPr sz="1300" b="0">
                <a:solidFill>
                  <a:srgbClr val="22303E"/>
                </a:solidFill>
                <a:latin typeface="Aptos"/>
              </a:rPr>
              <a:t>•  Track precision@k, recall@k, diversity, and novelty</a:t>
            </a:r>
          </a:p>
          <a:p>
            <a:pPr>
              <a:spcAft>
                <a:spcPts val="700"/>
              </a:spcAft>
            </a:pPr>
            <a:r>
              <a:rPr sz="1300" b="0">
                <a:solidFill>
                  <a:srgbClr val="22303E"/>
                </a:solidFill>
                <a:latin typeface="Aptos"/>
              </a:rPr>
              <a:t>•  Monitor popularity and manufacturer exposure</a:t>
            </a:r>
          </a:p>
          <a:p>
            <a:pPr>
              <a:spcAft>
                <a:spcPts val="0"/>
              </a:spcAft>
            </a:pPr>
            <a:r>
              <a:rPr sz="1300" b="0">
                <a:solidFill>
                  <a:srgbClr val="22303E"/>
                </a:solidFill>
                <a:latin typeface="Aptos"/>
              </a:rPr>
              <a:t>•  Retrain as new vehicle reviews arrive</a:t>
            </a:r>
          </a:p>
        </p:txBody>
      </p:sp>
      <p:sp>
        <p:nvSpPr>
          <p:cNvPr id="10" name="Rounded Rectangle 9"/>
          <p:cNvSpPr/>
          <p:nvPr/>
        </p:nvSpPr>
        <p:spPr>
          <a:xfrm>
            <a:off x="658368" y="5376672"/>
            <a:ext cx="10863072" cy="667512"/>
          </a:xfrm>
          <a:prstGeom prst="roundRect">
            <a:avLst/>
          </a:prstGeom>
          <a:solidFill>
            <a:srgbClr val="0B1F33"/>
          </a:solidFill>
          <a:ln w="12700">
            <a:solidFill>
              <a:srgbClr val="0B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96112" y="5559552"/>
            <a:ext cx="1143000" cy="228600"/>
          </a:xfrm>
          <a:prstGeom prst="rect">
            <a:avLst/>
          </a:prstGeom>
          <a:noFill/>
        </p:spPr>
        <p:txBody>
          <a:bodyPr wrap="square" lIns="27432" tIns="27432" rIns="27432" bIns="27432" anchor="t">
            <a:spAutoFit/>
          </a:bodyPr>
          <a:lstStyle/>
          <a:p>
            <a:pPr algn="l"/>
            <a:r>
              <a:rPr sz="1050" b="1">
                <a:solidFill>
                  <a:srgbClr val="16B3A3"/>
                </a:solidFill>
                <a:latin typeface="Aptos"/>
              </a:rPr>
              <a:t>Key principle</a:t>
            </a:r>
          </a:p>
        </p:txBody>
      </p:sp>
      <p:sp>
        <p:nvSpPr>
          <p:cNvPr id="12" name="TextBox 11"/>
          <p:cNvSpPr txBox="1"/>
          <p:nvPr/>
        </p:nvSpPr>
        <p:spPr>
          <a:xfrm>
            <a:off x="2011680" y="5504688"/>
            <a:ext cx="9098280" cy="329184"/>
          </a:xfrm>
          <a:prstGeom prst="rect">
            <a:avLst/>
          </a:prstGeom>
          <a:noFill/>
        </p:spPr>
        <p:txBody>
          <a:bodyPr wrap="square" lIns="27432" tIns="27432" rIns="27432" bIns="27432" anchor="t">
            <a:spAutoFit/>
          </a:bodyPr>
          <a:lstStyle/>
          <a:p>
            <a:pPr algn="ctr"/>
            <a:r>
              <a:rPr sz="1250" b="1">
                <a:solidFill>
                  <a:srgbClr val="FFFFFF"/>
                </a:solidFill>
                <a:latin typeface="Aptos"/>
              </a:rPr>
              <a:t>A useful recommender is not only accurate—it is relevant, diverse, fast, explainable, and honest about uncertainty.</a:t>
            </a:r>
          </a:p>
        </p:txBody>
      </p:sp>
      <p:sp>
        <p:nvSpPr>
          <p:cNvPr id="13" name="Rectangle 12"/>
          <p:cNvSpPr/>
          <p:nvPr/>
        </p:nvSpPr>
        <p:spPr>
          <a:xfrm>
            <a:off x="0" y="6565392"/>
            <a:ext cx="12191695" cy="292608"/>
          </a:xfrm>
          <a:prstGeom prst="rect">
            <a:avLst/>
          </a:prstGeom>
          <a:solidFill>
            <a:srgbClr val="0B1F33"/>
          </a:solidFill>
          <a:ln>
            <a:solidFill>
              <a:srgbClr val="0B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30352" y="6611112"/>
            <a:ext cx="5029200" cy="155448"/>
          </a:xfrm>
          <a:prstGeom prst="rect">
            <a:avLst/>
          </a:prstGeom>
          <a:noFill/>
        </p:spPr>
        <p:txBody>
          <a:bodyPr wrap="square" lIns="27432" tIns="27432" rIns="27432" bIns="27432" anchor="t">
            <a:spAutoFit/>
          </a:bodyPr>
          <a:lstStyle/>
          <a:p>
            <a:pPr algn="l"/>
            <a:r>
              <a:rPr sz="850" b="0">
                <a:solidFill>
                  <a:srgbClr val="FFFFFF"/>
                </a:solidFill>
                <a:latin typeface="Aptos"/>
              </a:rPr>
              <a:t>DSC 201 • Project 1</a:t>
            </a:r>
          </a:p>
        </p:txBody>
      </p:sp>
      <p:sp>
        <p:nvSpPr>
          <p:cNvPr id="15" name="TextBox 14"/>
          <p:cNvSpPr txBox="1"/>
          <p:nvPr/>
        </p:nvSpPr>
        <p:spPr>
          <a:xfrm>
            <a:off x="11201400" y="6611112"/>
            <a:ext cx="411480" cy="155448"/>
          </a:xfrm>
          <a:prstGeom prst="rect">
            <a:avLst/>
          </a:prstGeom>
          <a:noFill/>
        </p:spPr>
        <p:txBody>
          <a:bodyPr wrap="square" lIns="27432" tIns="27432" rIns="27432" bIns="27432" anchor="t">
            <a:spAutoFit/>
          </a:bodyPr>
          <a:lstStyle/>
          <a:p>
            <a:pPr algn="r"/>
            <a:r>
              <a:rPr sz="850" b="1">
                <a:solidFill>
                  <a:srgbClr val="FFFFFF"/>
                </a:solidFill>
                <a:latin typeface="Aptos"/>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F33"/>
          </a:solidFill>
          <a:ln w="12700">
            <a:solidFill>
              <a:srgbClr val="0B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2011680" cy="256032"/>
          </a:xfrm>
          <a:prstGeom prst="rect">
            <a:avLst/>
          </a:prstGeom>
          <a:noFill/>
        </p:spPr>
        <p:txBody>
          <a:bodyPr wrap="square" lIns="27432" tIns="27432" rIns="27432" bIns="27432" anchor="t">
            <a:spAutoFit/>
          </a:bodyPr>
          <a:lstStyle/>
          <a:p>
            <a:pPr algn="l"/>
            <a:r>
              <a:rPr sz="1050" b="1">
                <a:solidFill>
                  <a:srgbClr val="16B3A3"/>
                </a:solidFill>
                <a:latin typeface="Aptos"/>
              </a:rPr>
              <a:t>CONCLUSION</a:t>
            </a:r>
          </a:p>
        </p:txBody>
      </p:sp>
      <p:sp>
        <p:nvSpPr>
          <p:cNvPr id="4" name="TextBox 3"/>
          <p:cNvSpPr txBox="1"/>
          <p:nvPr/>
        </p:nvSpPr>
        <p:spPr>
          <a:xfrm>
            <a:off x="640080" y="960120"/>
            <a:ext cx="9966960" cy="640080"/>
          </a:xfrm>
          <a:prstGeom prst="rect">
            <a:avLst/>
          </a:prstGeom>
          <a:noFill/>
        </p:spPr>
        <p:txBody>
          <a:bodyPr wrap="square" lIns="27432" tIns="27432" rIns="27432" bIns="27432" anchor="t">
            <a:spAutoFit/>
          </a:bodyPr>
          <a:lstStyle/>
          <a:p>
            <a:pPr algn="l"/>
            <a:r>
              <a:rPr sz="2800" b="1">
                <a:solidFill>
                  <a:srgbClr val="FFFFFF"/>
                </a:solidFill>
                <a:latin typeface="Aptos Display"/>
              </a:rPr>
              <a:t>The hybrid model is the strongest practical answer</a:t>
            </a:r>
          </a:p>
        </p:txBody>
      </p:sp>
      <p:sp>
        <p:nvSpPr>
          <p:cNvPr id="5" name="TextBox 4"/>
          <p:cNvSpPr txBox="1"/>
          <p:nvPr/>
        </p:nvSpPr>
        <p:spPr>
          <a:xfrm>
            <a:off x="667512" y="1719072"/>
            <a:ext cx="9966960" cy="512064"/>
          </a:xfrm>
          <a:prstGeom prst="rect">
            <a:avLst/>
          </a:prstGeom>
          <a:noFill/>
        </p:spPr>
        <p:txBody>
          <a:bodyPr wrap="square" lIns="27432" tIns="27432" rIns="27432" bIns="27432" anchor="t">
            <a:spAutoFit/>
          </a:bodyPr>
          <a:lstStyle/>
          <a:p>
            <a:pPr algn="l"/>
            <a:r>
              <a:rPr sz="1500" b="0">
                <a:solidFill>
                  <a:srgbClr val="C6D8E5"/>
                </a:solidFill>
                <a:latin typeface="Aptos"/>
              </a:rPr>
              <a:t>Content provides coherent candidates. SVD adds user preference. The hybrid keeps both signals visible and measurable.</a:t>
            </a:r>
          </a:p>
        </p:txBody>
      </p:sp>
      <p:sp>
        <p:nvSpPr>
          <p:cNvPr id="6" name="Rounded Rectangle 5"/>
          <p:cNvSpPr/>
          <p:nvPr/>
        </p:nvSpPr>
        <p:spPr>
          <a:xfrm>
            <a:off x="685800" y="2743200"/>
            <a:ext cx="3246120" cy="1344168"/>
          </a:xfrm>
          <a:prstGeom prst="roundRect">
            <a:avLst/>
          </a:prstGeom>
          <a:solidFill>
            <a:srgbClr val="14304A"/>
          </a:solidFill>
          <a:ln w="12700">
            <a:solidFill>
              <a:srgbClr val="36556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0392" y="2926080"/>
            <a:ext cx="2916936" cy="438912"/>
          </a:xfrm>
          <a:prstGeom prst="rect">
            <a:avLst/>
          </a:prstGeom>
          <a:noFill/>
        </p:spPr>
        <p:txBody>
          <a:bodyPr wrap="square" lIns="27432" tIns="27432" rIns="27432" bIns="27432" anchor="t">
            <a:spAutoFit/>
          </a:bodyPr>
          <a:lstStyle/>
          <a:p>
            <a:pPr algn="ctr"/>
            <a:r>
              <a:rPr sz="2400" b="1">
                <a:solidFill>
                  <a:srgbClr val="16B3A3"/>
                </a:solidFill>
                <a:latin typeface="Aptos Display"/>
              </a:rPr>
              <a:t>70.3%</a:t>
            </a:r>
          </a:p>
        </p:txBody>
      </p:sp>
      <p:sp>
        <p:nvSpPr>
          <p:cNvPr id="8" name="TextBox 7"/>
          <p:cNvSpPr txBox="1"/>
          <p:nvPr/>
        </p:nvSpPr>
        <p:spPr>
          <a:xfrm>
            <a:off x="850392" y="3493008"/>
            <a:ext cx="2916936" cy="256032"/>
          </a:xfrm>
          <a:prstGeom prst="rect">
            <a:avLst/>
          </a:prstGeom>
          <a:noFill/>
        </p:spPr>
        <p:txBody>
          <a:bodyPr wrap="square" lIns="27432" tIns="27432" rIns="27432" bIns="27432" anchor="t">
            <a:spAutoFit/>
          </a:bodyPr>
          <a:lstStyle/>
          <a:p>
            <a:pPr algn="ctr"/>
            <a:r>
              <a:rPr sz="1050" b="1">
                <a:solidFill>
                  <a:srgbClr val="FFFFFF"/>
                </a:solidFill>
                <a:latin typeface="Aptos"/>
              </a:rPr>
              <a:t>same-make precision@10</a:t>
            </a:r>
          </a:p>
        </p:txBody>
      </p:sp>
      <p:sp>
        <p:nvSpPr>
          <p:cNvPr id="9" name="Rounded Rectangle 8"/>
          <p:cNvSpPr/>
          <p:nvPr/>
        </p:nvSpPr>
        <p:spPr>
          <a:xfrm>
            <a:off x="4297680" y="2743200"/>
            <a:ext cx="3246120" cy="1344168"/>
          </a:xfrm>
          <a:prstGeom prst="roundRect">
            <a:avLst/>
          </a:prstGeom>
          <a:solidFill>
            <a:srgbClr val="14304A"/>
          </a:solidFill>
          <a:ln w="12700">
            <a:solidFill>
              <a:srgbClr val="36556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62272" y="2926080"/>
            <a:ext cx="2916936" cy="438912"/>
          </a:xfrm>
          <a:prstGeom prst="rect">
            <a:avLst/>
          </a:prstGeom>
          <a:noFill/>
        </p:spPr>
        <p:txBody>
          <a:bodyPr wrap="square" lIns="27432" tIns="27432" rIns="27432" bIns="27432" anchor="t">
            <a:spAutoFit/>
          </a:bodyPr>
          <a:lstStyle/>
          <a:p>
            <a:pPr algn="ctr"/>
            <a:r>
              <a:rPr sz="2400" b="1">
                <a:solidFill>
                  <a:srgbClr val="2F6FAE"/>
                </a:solidFill>
                <a:latin typeface="Aptos Display"/>
              </a:rPr>
              <a:t>18,287</a:t>
            </a:r>
          </a:p>
        </p:txBody>
      </p:sp>
      <p:sp>
        <p:nvSpPr>
          <p:cNvPr id="11" name="TextBox 10"/>
          <p:cNvSpPr txBox="1"/>
          <p:nvPr/>
        </p:nvSpPr>
        <p:spPr>
          <a:xfrm>
            <a:off x="4462272" y="3493008"/>
            <a:ext cx="2916936" cy="256032"/>
          </a:xfrm>
          <a:prstGeom prst="rect">
            <a:avLst/>
          </a:prstGeom>
          <a:noFill/>
        </p:spPr>
        <p:txBody>
          <a:bodyPr wrap="square" lIns="27432" tIns="27432" rIns="27432" bIns="27432" anchor="t">
            <a:spAutoFit/>
          </a:bodyPr>
          <a:lstStyle/>
          <a:p>
            <a:pPr algn="ctr"/>
            <a:r>
              <a:rPr sz="1050" b="1">
                <a:solidFill>
                  <a:srgbClr val="FFFFFF"/>
                </a:solidFill>
                <a:latin typeface="Aptos"/>
              </a:rPr>
              <a:t>content catalog vehicles</a:t>
            </a:r>
          </a:p>
        </p:txBody>
      </p:sp>
      <p:sp>
        <p:nvSpPr>
          <p:cNvPr id="12" name="Rounded Rectangle 11"/>
          <p:cNvSpPr/>
          <p:nvPr/>
        </p:nvSpPr>
        <p:spPr>
          <a:xfrm>
            <a:off x="7909560" y="2743200"/>
            <a:ext cx="3246120" cy="1344168"/>
          </a:xfrm>
          <a:prstGeom prst="roundRect">
            <a:avLst/>
          </a:prstGeom>
          <a:solidFill>
            <a:srgbClr val="14304A"/>
          </a:solidFill>
          <a:ln w="12700">
            <a:solidFill>
              <a:srgbClr val="36556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74152" y="2926080"/>
            <a:ext cx="2916936" cy="438912"/>
          </a:xfrm>
          <a:prstGeom prst="rect">
            <a:avLst/>
          </a:prstGeom>
          <a:noFill/>
        </p:spPr>
        <p:txBody>
          <a:bodyPr wrap="square" lIns="27432" tIns="27432" rIns="27432" bIns="27432" anchor="t">
            <a:spAutoFit/>
          </a:bodyPr>
          <a:lstStyle/>
          <a:p>
            <a:pPr algn="ctr"/>
            <a:r>
              <a:rPr sz="2400" b="1">
                <a:solidFill>
                  <a:srgbClr val="F59E0B"/>
                </a:solidFill>
                <a:latin typeface="Aptos Display"/>
              </a:rPr>
              <a:t>≈96 ms</a:t>
            </a:r>
          </a:p>
        </p:txBody>
      </p:sp>
      <p:sp>
        <p:nvSpPr>
          <p:cNvPr id="14" name="TextBox 13"/>
          <p:cNvSpPr txBox="1"/>
          <p:nvPr/>
        </p:nvSpPr>
        <p:spPr>
          <a:xfrm>
            <a:off x="8074152" y="3493008"/>
            <a:ext cx="2916936" cy="256032"/>
          </a:xfrm>
          <a:prstGeom prst="rect">
            <a:avLst/>
          </a:prstGeom>
          <a:noFill/>
        </p:spPr>
        <p:txBody>
          <a:bodyPr wrap="square" lIns="27432" tIns="27432" rIns="27432" bIns="27432" anchor="t">
            <a:spAutoFit/>
          </a:bodyPr>
          <a:lstStyle/>
          <a:p>
            <a:pPr algn="ctr"/>
            <a:r>
              <a:rPr sz="1050" b="1">
                <a:solidFill>
                  <a:srgbClr val="FFFFFF"/>
                </a:solidFill>
                <a:latin typeface="Aptos"/>
              </a:rPr>
              <a:t>hybrid example query</a:t>
            </a:r>
          </a:p>
        </p:txBody>
      </p:sp>
      <p:sp>
        <p:nvSpPr>
          <p:cNvPr id="15" name="TextBox 14"/>
          <p:cNvSpPr txBox="1"/>
          <p:nvPr/>
        </p:nvSpPr>
        <p:spPr>
          <a:xfrm>
            <a:off x="685800" y="4681728"/>
            <a:ext cx="2377440" cy="274320"/>
          </a:xfrm>
          <a:prstGeom prst="rect">
            <a:avLst/>
          </a:prstGeom>
          <a:noFill/>
        </p:spPr>
        <p:txBody>
          <a:bodyPr wrap="square" lIns="27432" tIns="27432" rIns="27432" bIns="27432" anchor="t">
            <a:spAutoFit/>
          </a:bodyPr>
          <a:lstStyle/>
          <a:p>
            <a:pPr algn="l"/>
            <a:r>
              <a:rPr sz="1200" b="1">
                <a:solidFill>
                  <a:srgbClr val="16B3A3"/>
                </a:solidFill>
                <a:latin typeface="Aptos"/>
              </a:rPr>
              <a:t>Deliverables completed</a:t>
            </a:r>
          </a:p>
        </p:txBody>
      </p:sp>
      <p:sp>
        <p:nvSpPr>
          <p:cNvPr id="16" name="TextBox 15"/>
          <p:cNvSpPr txBox="1"/>
          <p:nvPr/>
        </p:nvSpPr>
        <p:spPr>
          <a:xfrm>
            <a:off x="685800" y="5084064"/>
            <a:ext cx="10744200" cy="384048"/>
          </a:xfrm>
          <a:prstGeom prst="rect">
            <a:avLst/>
          </a:prstGeom>
          <a:noFill/>
        </p:spPr>
        <p:txBody>
          <a:bodyPr wrap="square" lIns="27432" tIns="27432" rIns="27432" bIns="27432" anchor="t">
            <a:spAutoFit/>
          </a:bodyPr>
          <a:lstStyle/>
          <a:p>
            <a:pPr algn="l"/>
            <a:r>
              <a:rPr sz="1100" b="0">
                <a:solidFill>
                  <a:srgbClr val="FFFFFF"/>
                </a:solidFill>
                <a:latin typeface="Aptos"/>
              </a:rPr>
              <a:t>✓ content_based_recommender(title, n)    ✓ collaborative_recommender(user_id, n)    ✓ hybrid_recommender(title, user_id, k)</a:t>
            </a:r>
          </a:p>
        </p:txBody>
      </p:sp>
      <p:sp>
        <p:nvSpPr>
          <p:cNvPr id="18" name="TextBox 17"/>
          <p:cNvSpPr txBox="1"/>
          <p:nvPr/>
        </p:nvSpPr>
        <p:spPr>
          <a:xfrm>
            <a:off x="6217920" y="5879592"/>
            <a:ext cx="5074920" cy="228600"/>
          </a:xfrm>
          <a:prstGeom prst="rect">
            <a:avLst/>
          </a:prstGeom>
          <a:noFill/>
        </p:spPr>
        <p:txBody>
          <a:bodyPr wrap="square" lIns="27432" tIns="27432" rIns="27432" bIns="27432" anchor="t">
            <a:spAutoFit/>
          </a:bodyPr>
          <a:lstStyle/>
          <a:p>
            <a:pPr algn="r"/>
            <a:r>
              <a:rPr sz="950" b="0">
                <a:solidFill>
                  <a:srgbClr val="A5BBCC"/>
                </a:solidFill>
                <a:latin typeface="Aptos"/>
              </a:rPr>
              <a:t>GitHub: github.com/tarun-vignes/DSC201-Project-I</a:t>
            </a:r>
          </a:p>
        </p:txBody>
      </p:sp>
      <p:sp>
        <p:nvSpPr>
          <p:cNvPr id="19" name="TextBox 18"/>
          <p:cNvSpPr txBox="1"/>
          <p:nvPr/>
        </p:nvSpPr>
        <p:spPr>
          <a:xfrm>
            <a:off x="11201400" y="6565392"/>
            <a:ext cx="411480" cy="164592"/>
          </a:xfrm>
          <a:prstGeom prst="rect">
            <a:avLst/>
          </a:prstGeom>
          <a:noFill/>
        </p:spPr>
        <p:txBody>
          <a:bodyPr wrap="square" lIns="27432" tIns="27432" rIns="27432" bIns="27432" anchor="t">
            <a:spAutoFit/>
          </a:bodyPr>
          <a:lstStyle/>
          <a:p>
            <a:pPr algn="r"/>
            <a:r>
              <a:rPr sz="850" b="1">
                <a:solidFill>
                  <a:srgbClr val="FFFFFF"/>
                </a:solidFill>
                <a:latin typeface="Aptos"/>
              </a:rPr>
              <a:t>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77</TotalTime>
  <Words>1981</Words>
  <Application>Microsoft Office PowerPoint</Application>
  <PresentationFormat>Widescreen</PresentationFormat>
  <Paragraphs>287</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Edmunds Car Recommender System</dc:title>
  <dc:subject>DSC 201 Project 1 presentation</dc:subject>
  <dc:creator>Tarun Vigneswaran</dc:creator>
  <cp:keywords>recommender system, content-based, SVD, hybrid, Edmunds</cp:keywords>
  <dc:description>generated using python-pptx</dc:description>
  <cp:lastModifiedBy>Tarun Vigneswaran</cp:lastModifiedBy>
  <cp:revision>2</cp:revision>
  <dcterms:created xsi:type="dcterms:W3CDTF">2013-01-27T09:14:16Z</dcterms:created>
  <dcterms:modified xsi:type="dcterms:W3CDTF">2026-10-13T18:23:59Z</dcterms:modified>
  <cp:category/>
</cp:coreProperties>
</file>